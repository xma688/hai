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charts/chart3.xml" ContentType="application/vnd.openxmlformats-officedocument.drawingml.chart+xml"/>
  <Override PartName="/ppt/notesSlides/notesSlide20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BBCA36-8C76-43DD-8278-7BB1735A28C5}" v="163" dt="2026-07-26T05:10:07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B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1_0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2_0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3_0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3_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MAE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1000">
                        <a:solidFill>
                          <a:srgbClr val="111111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1.4961</a:t>
                    </a:r>
                    <a:endParaRPr lang="en-US" altLang="zh-C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5B7-4ED3-B9BC-B9AFD11996A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1000">
                        <a:solidFill>
                          <a:srgbClr val="111111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0.5094</a:t>
                    </a:r>
                    <a:endParaRPr lang="en-US" altLang="zh-C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5B7-4ED3-B9BC-B9AFD11996A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1000">
                        <a:solidFill>
                          <a:srgbClr val="111111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rPr>
                      <a:t>0.5053</a:t>
                    </a:r>
                    <a:endParaRPr lang="en-US" altLang="zh-C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5B7-4ED3-B9BC-B9AFD11996A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 Persona</c:v>
                </c:pt>
                <c:pt idx="1">
                  <c:v>Supportive</c:v>
                </c:pt>
                <c:pt idx="2">
                  <c:v>Multi-Persona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1.4961</c:v>
                </c:pt>
                <c:pt idx="1">
                  <c:v>0.50939999999999996</c:v>
                </c:pt>
                <c:pt idx="2">
                  <c:v>0.50529999999999997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B7-4ED3-B9BC-B9AFD11996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Acc.</c:v>
                </c:pt>
                <c:pt idx="1">
                  <c:v>Behavior</c:v>
                </c:pt>
                <c:pt idx="2">
                  <c:v>Coher.</c:v>
                </c:pt>
                <c:pt idx="3">
                  <c:v>Comm.</c:v>
                </c:pt>
                <c:pt idx="4">
                  <c:v>Consist.</c:v>
                </c:pt>
                <c:pt idx="5">
                  <c:v>Diversity</c:v>
                </c:pt>
                <c:pt idx="6">
                  <c:v>Empathy</c:v>
                </c:pt>
                <c:pt idx="7">
                  <c:v>Exposure</c:v>
                </c:pt>
                <c:pt idx="8">
                  <c:v>Fluency</c:v>
                </c:pt>
                <c:pt idx="9">
                  <c:v>Halluc.</c:v>
                </c:pt>
                <c:pt idx="10">
                  <c:v>Knowl.</c:v>
                </c:pt>
                <c:pt idx="11">
                  <c:v>Balance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4.0199999999999996</c:v>
                </c:pt>
                <c:pt idx="1">
                  <c:v>4.76</c:v>
                </c:pt>
                <c:pt idx="2">
                  <c:v>4.67</c:v>
                </c:pt>
                <c:pt idx="3">
                  <c:v>4.67</c:v>
                </c:pt>
                <c:pt idx="4">
                  <c:v>4.0999999999999996</c:v>
                </c:pt>
                <c:pt idx="5">
                  <c:v>4.3600000000000003</c:v>
                </c:pt>
                <c:pt idx="6">
                  <c:v>4.05</c:v>
                </c:pt>
                <c:pt idx="7">
                  <c:v>4.08</c:v>
                </c:pt>
                <c:pt idx="8">
                  <c:v>4.49</c:v>
                </c:pt>
                <c:pt idx="9">
                  <c:v>4.84</c:v>
                </c:pt>
                <c:pt idx="10">
                  <c:v>4.49</c:v>
                </c:pt>
                <c:pt idx="11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AB-4794-9CEE-AB1F7113B3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supportive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Extraversion</c:v>
                </c:pt>
                <c:pt idx="1">
                  <c:v>Agreeableness</c:v>
                </c:pt>
                <c:pt idx="2">
                  <c:v>Conscientiousness</c:v>
                </c:pt>
                <c:pt idx="3">
                  <c:v>Neuroticism</c:v>
                </c:pt>
                <c:pt idx="4">
                  <c:v>Openness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3.6</c:v>
                </c:pt>
                <c:pt idx="1">
                  <c:v>5</c:v>
                </c:pt>
                <c:pt idx="2">
                  <c:v>4.2</c:v>
                </c:pt>
                <c:pt idx="3">
                  <c:v>0.2</c:v>
                </c:pt>
                <c:pt idx="4">
                  <c:v>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7C-44EE-A605-5BD2B117A7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playful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Extraversion</c:v>
                </c:pt>
                <c:pt idx="1">
                  <c:v>Agreeableness</c:v>
                </c:pt>
                <c:pt idx="2">
                  <c:v>Conscientiousness</c:v>
                </c:pt>
                <c:pt idx="3">
                  <c:v>Neuroticism</c:v>
                </c:pt>
                <c:pt idx="4">
                  <c:v>Openness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4.9000000000000004</c:v>
                </c:pt>
                <c:pt idx="1">
                  <c:v>4.3</c:v>
                </c:pt>
                <c:pt idx="2">
                  <c:v>2.2000000000000002</c:v>
                </c:pt>
                <c:pt idx="3">
                  <c:v>1.5</c:v>
                </c:pt>
                <c:pt idx="4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7C-44EE-A605-5BD2B117A7E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professional</c:v>
                </c:pt>
              </c:strCache>
            </c:strRef>
          </c:tx>
          <c:spPr>
            <a:solidFill>
              <a:srgbClr val="9BBB59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Extraversion</c:v>
                </c:pt>
                <c:pt idx="1">
                  <c:v>Agreeableness</c:v>
                </c:pt>
                <c:pt idx="2">
                  <c:v>Conscientiousness</c:v>
                </c:pt>
                <c:pt idx="3">
                  <c:v>Neuroticism</c:v>
                </c:pt>
                <c:pt idx="4">
                  <c:v>Openness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2.2000000000000002</c:v>
                </c:pt>
                <c:pt idx="1">
                  <c:v>4.2</c:v>
                </c:pt>
                <c:pt idx="2">
                  <c:v>5</c:v>
                </c:pt>
                <c:pt idx="3">
                  <c:v>1.1000000000000001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47C-44EE-A605-5BD2B117A7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BFI Repeat Stability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MAE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playful</c:v>
                </c:pt>
                <c:pt idx="1">
                  <c:v>professional</c:v>
                </c:pt>
                <c:pt idx="2">
                  <c:v>supportive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0.67</c:v>
                </c:pt>
                <c:pt idx="1">
                  <c:v>0.36</c:v>
                </c:pt>
                <c:pt idx="2">
                  <c:v>0.44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67-4FA6-8D50-1E0BA39CC4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Empathy Questionnaire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MAE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supportive</c:v>
                </c:pt>
                <c:pt idx="1">
                  <c:v>playful</c:v>
                </c:pt>
                <c:pt idx="2">
                  <c:v>professional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0.7</c:v>
                </c:pt>
                <c:pt idx="2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DD-4025-B6D4-68434DC26B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888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612648"/>
            <a:ext cx="11475720" cy="1417320"/>
          </a:xfrm>
          <a:prstGeom prst="roundRect">
            <a:avLst>
              <a:gd name="adj" fmla="val 5161"/>
            </a:avLst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9611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</a:rPr>
              <a:t>HAI Course Project Presentation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HAI Chat Avatar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11111"/>
                </a:solidFill>
              </a:rPr>
              <a:t>An Emotion- and Gesture-Aware Virtual Chat Companion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11111"/>
                </a:solidFill>
              </a:rPr>
              <a:t>Authors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11111"/>
                </a:solidFill>
              </a:rPr>
              <a:t>July 26, 2026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11111"/>
                </a:solidFill>
              </a:rPr>
              <a:t>AI Thrust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11111"/>
                </a:solidFill>
              </a:rPr>
              <a:t>HKUST (GZ)</a:t>
            </a:r>
            <a:endParaRPr lang="en-US" sz="1000"/>
          </a:p>
        </p:txBody>
      </p:sp>
      <p:pic>
        <p:nvPicPr>
          <p:cNvPr id="9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5440680"/>
            <a:ext cx="28346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2/22</a:t>
            </a:r>
            <a:endParaRPr lang="en-US" sz="800"/>
          </a:p>
        </p:txBody>
      </p:sp>
      <p:sp>
        <p:nvSpPr>
          <p:cNvPr id="7" name="Shape 4"/>
          <p:cNvSpPr/>
          <p:nvPr/>
        </p:nvSpPr>
        <p:spPr>
          <a:xfrm>
            <a:off x="502920" y="1490472"/>
            <a:ext cx="256032" cy="25603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54076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1</a:t>
            </a:r>
            <a:endParaRPr lang="en-US" sz="800"/>
          </a:p>
        </p:txBody>
      </p:sp>
      <p:sp>
        <p:nvSpPr>
          <p:cNvPr id="9" name="Text 6"/>
          <p:cNvSpPr/>
          <p:nvPr/>
        </p:nvSpPr>
        <p:spPr>
          <a:xfrm>
            <a:off x="978408" y="14904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Part 1. Base Layer: End-to-End Pipeline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02920" y="2496312"/>
            <a:ext cx="256032" cy="25603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54660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2</a:t>
            </a:r>
            <a:endParaRPr lang="en-US" sz="800"/>
          </a:p>
        </p:txBody>
      </p:sp>
      <p:sp>
        <p:nvSpPr>
          <p:cNvPr id="12" name="Text 9"/>
          <p:cNvSpPr/>
          <p:nvPr/>
        </p:nvSpPr>
        <p:spPr>
          <a:xfrm>
            <a:off x="978408" y="24963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Part 2. Personalization Layer</a:t>
            </a:r>
            <a:endParaRPr lang="en-US" sz="1400"/>
          </a:p>
        </p:txBody>
      </p:sp>
      <p:sp>
        <p:nvSpPr>
          <p:cNvPr id="13" name="Shape 10"/>
          <p:cNvSpPr/>
          <p:nvPr/>
        </p:nvSpPr>
        <p:spPr>
          <a:xfrm>
            <a:off x="502920" y="3502152"/>
            <a:ext cx="256032" cy="25603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55244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3</a:t>
            </a:r>
            <a:endParaRPr lang="en-US" sz="800"/>
          </a:p>
        </p:txBody>
      </p:sp>
      <p:sp>
        <p:nvSpPr>
          <p:cNvPr id="15" name="Text 12"/>
          <p:cNvSpPr/>
          <p:nvPr/>
        </p:nvSpPr>
        <p:spPr>
          <a:xfrm>
            <a:off x="978408" y="35021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Part 3. Innovation Layer: Action Planner and Embodied Response</a:t>
            </a:r>
            <a:endParaRPr lang="en-US" sz="1400"/>
          </a:p>
        </p:txBody>
      </p:sp>
      <p:sp>
        <p:nvSpPr>
          <p:cNvPr id="16" name="Shape 13"/>
          <p:cNvSpPr/>
          <p:nvPr/>
        </p:nvSpPr>
        <p:spPr>
          <a:xfrm>
            <a:off x="502920" y="4507992"/>
            <a:ext cx="256032" cy="25603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5582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4</a:t>
            </a:r>
            <a:endParaRPr lang="en-US" sz="800"/>
          </a:p>
        </p:txBody>
      </p:sp>
      <p:sp>
        <p:nvSpPr>
          <p:cNvPr id="18" name="Text 15"/>
          <p:cNvSpPr/>
          <p:nvPr/>
        </p:nvSpPr>
        <p:spPr>
          <a:xfrm>
            <a:off x="978408" y="45079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Part 4. Interface, Evaluation, and Storytelling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3/22</a:t>
            </a:r>
            <a:endParaRPr lang="en-US" sz="800"/>
          </a:p>
        </p:txBody>
      </p:sp>
      <p:sp>
        <p:nvSpPr>
          <p:cNvPr id="7" name="Shape 4"/>
          <p:cNvSpPr/>
          <p:nvPr/>
        </p:nvSpPr>
        <p:spPr>
          <a:xfrm>
            <a:off x="502920" y="1490472"/>
            <a:ext cx="256032" cy="25603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54076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1</a:t>
            </a:r>
            <a:endParaRPr lang="en-US" sz="800"/>
          </a:p>
        </p:txBody>
      </p:sp>
      <p:sp>
        <p:nvSpPr>
          <p:cNvPr id="9" name="Text 6"/>
          <p:cNvSpPr/>
          <p:nvPr/>
        </p:nvSpPr>
        <p:spPr>
          <a:xfrm>
            <a:off x="978408" y="14904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Part 1. Base Layer: End-to-End Pipeline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02920" y="249631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54660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2</a:t>
            </a:r>
            <a:endParaRPr lang="en-US" sz="800"/>
          </a:p>
        </p:txBody>
      </p:sp>
      <p:sp>
        <p:nvSpPr>
          <p:cNvPr id="12" name="Text 9"/>
          <p:cNvSpPr/>
          <p:nvPr/>
        </p:nvSpPr>
        <p:spPr>
          <a:xfrm>
            <a:off x="978408" y="24963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2. Personalization Layer</a:t>
            </a:r>
            <a:endParaRPr lang="en-US" sz="1400"/>
          </a:p>
        </p:txBody>
      </p:sp>
      <p:sp>
        <p:nvSpPr>
          <p:cNvPr id="13" name="Shape 10"/>
          <p:cNvSpPr/>
          <p:nvPr/>
        </p:nvSpPr>
        <p:spPr>
          <a:xfrm>
            <a:off x="502920" y="350215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55244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3</a:t>
            </a:r>
            <a:endParaRPr lang="en-US" sz="800"/>
          </a:p>
        </p:txBody>
      </p:sp>
      <p:sp>
        <p:nvSpPr>
          <p:cNvPr id="15" name="Text 12"/>
          <p:cNvSpPr/>
          <p:nvPr/>
        </p:nvSpPr>
        <p:spPr>
          <a:xfrm>
            <a:off x="978408" y="35021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3. Innovation Layer: Action Planner and Embodied Response</a:t>
            </a:r>
            <a:endParaRPr lang="en-US" sz="1400"/>
          </a:p>
        </p:txBody>
      </p:sp>
      <p:sp>
        <p:nvSpPr>
          <p:cNvPr id="16" name="Shape 13"/>
          <p:cNvSpPr/>
          <p:nvPr/>
        </p:nvSpPr>
        <p:spPr>
          <a:xfrm>
            <a:off x="502920" y="450799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5582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4</a:t>
            </a:r>
            <a:endParaRPr lang="en-US" sz="800"/>
          </a:p>
        </p:txBody>
      </p:sp>
      <p:sp>
        <p:nvSpPr>
          <p:cNvPr id="18" name="Text 15"/>
          <p:cNvSpPr/>
          <p:nvPr/>
        </p:nvSpPr>
        <p:spPr>
          <a:xfrm>
            <a:off x="978408" y="45079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4. Interface, Evaluation, and Storytelling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Layer: What Problem Does It Solve?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4/22</a:t>
            </a:r>
            <a:endParaRPr lang="en-US" sz="80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11111"/>
                </a:solidFill>
              </a:rPr>
              <a:t>Goal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685800" y="143560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996696" y="1417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one user text input into a reliable multimodal response that the avatar can speak and perform.</a:t>
            </a:r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685800" y="21671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996696" y="2148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user text, recent dialogue history, and optional user profile.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685800" y="265176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996696" y="26334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reply text, emotion, expression, gestures, voice style, and audio path.</a:t>
            </a:r>
            <a:endParaRPr lang="en-US" sz="1300"/>
          </a:p>
        </p:txBody>
      </p:sp>
      <p:sp>
        <p:nvSpPr>
          <p:cNvPr id="14" name="Text 11"/>
          <p:cNvSpPr/>
          <p:nvPr/>
        </p:nvSpPr>
        <p:spPr>
          <a:xfrm>
            <a:off x="685800" y="314553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5" name="Text 12"/>
          <p:cNvSpPr/>
          <p:nvPr/>
        </p:nvSpPr>
        <p:spPr>
          <a:xfrm>
            <a:off x="996696" y="31272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requirement: mockable locally, switchable to real API/TTS, and connectable to Live2D/Prometheus.</a:t>
            </a:r>
            <a:endParaRPr lang="en-US" sz="1300"/>
          </a:p>
        </p:txBody>
      </p:sp>
      <p:sp>
        <p:nvSpPr>
          <p:cNvPr id="16" name="Text 13"/>
          <p:cNvSpPr/>
          <p:nvPr/>
        </p:nvSpPr>
        <p:spPr>
          <a:xfrm>
            <a:off x="8229600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11111"/>
                </a:solidFill>
              </a:rPr>
              <a:t>Current Implementation</a:t>
            </a:r>
            <a:endParaRPr lang="en-US" sz="1600"/>
          </a:p>
        </p:txBody>
      </p:sp>
      <p:sp>
        <p:nvSpPr>
          <p:cNvPr id="17" name="Text 14"/>
          <p:cNvSpPr/>
          <p:nvPr/>
        </p:nvSpPr>
        <p:spPr>
          <a:xfrm>
            <a:off x="8275320" y="1417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A00000"/>
                </a:solidFill>
              </a:rPr>
              <a:t>LLM</a:t>
            </a:r>
            <a:endParaRPr lang="en-US" sz="1250"/>
          </a:p>
        </p:txBody>
      </p:sp>
      <p:sp>
        <p:nvSpPr>
          <p:cNvPr id="18" name="Text 15"/>
          <p:cNvSpPr/>
          <p:nvPr/>
        </p:nvSpPr>
        <p:spPr>
          <a:xfrm>
            <a:off x="9144000" y="141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11111"/>
                </a:solidFill>
              </a:rPr>
              <a:t>Mock / OpenAI-compatible</a:t>
            </a:r>
            <a:endParaRPr lang="en-US" sz="1250"/>
          </a:p>
        </p:txBody>
      </p:sp>
      <p:sp>
        <p:nvSpPr>
          <p:cNvPr id="19" name="Text 16"/>
          <p:cNvSpPr/>
          <p:nvPr/>
        </p:nvSpPr>
        <p:spPr>
          <a:xfrm>
            <a:off x="8275320" y="18288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A00000"/>
                </a:solidFill>
              </a:rPr>
              <a:t>TTS</a:t>
            </a:r>
            <a:endParaRPr lang="en-US" sz="1250"/>
          </a:p>
        </p:txBody>
      </p:sp>
      <p:sp>
        <p:nvSpPr>
          <p:cNvPr id="20" name="Text 17"/>
          <p:cNvSpPr/>
          <p:nvPr/>
        </p:nvSpPr>
        <p:spPr>
          <a:xfrm>
            <a:off x="9144000" y="1828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11111"/>
                </a:solidFill>
              </a:rPr>
              <a:t>Mock / Edge TTS</a:t>
            </a:r>
            <a:endParaRPr lang="en-US" sz="1250"/>
          </a:p>
        </p:txBody>
      </p:sp>
      <p:sp>
        <p:nvSpPr>
          <p:cNvPr id="21" name="Text 18"/>
          <p:cNvSpPr/>
          <p:nvPr/>
        </p:nvSpPr>
        <p:spPr>
          <a:xfrm>
            <a:off x="8275320" y="22402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A00000"/>
                </a:solidFill>
              </a:rPr>
              <a:t>Avatar</a:t>
            </a:r>
            <a:endParaRPr lang="en-US" sz="1250"/>
          </a:p>
        </p:txBody>
      </p:sp>
      <p:sp>
        <p:nvSpPr>
          <p:cNvPr id="22" name="Text 19"/>
          <p:cNvSpPr/>
          <p:nvPr/>
        </p:nvSpPr>
        <p:spPr>
          <a:xfrm>
            <a:off x="9144000" y="2240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11111"/>
                </a:solidFill>
              </a:rPr>
              <a:t>Mock / Prometheus</a:t>
            </a:r>
            <a:endParaRPr lang="en-US" sz="1250"/>
          </a:p>
        </p:txBody>
      </p:sp>
      <p:sp>
        <p:nvSpPr>
          <p:cNvPr id="23" name="Text 20"/>
          <p:cNvSpPr/>
          <p:nvPr/>
        </p:nvSpPr>
        <p:spPr>
          <a:xfrm>
            <a:off x="8275320" y="26517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A00000"/>
                </a:solidFill>
              </a:rPr>
              <a:t>UI</a:t>
            </a:r>
            <a:endParaRPr lang="en-US" sz="1250"/>
          </a:p>
        </p:txBody>
      </p:sp>
      <p:sp>
        <p:nvSpPr>
          <p:cNvPr id="24" name="Text 21"/>
          <p:cNvSpPr/>
          <p:nvPr/>
        </p:nvSpPr>
        <p:spPr>
          <a:xfrm>
            <a:off x="9144000" y="2651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11111"/>
                </a:solidFill>
              </a:rPr>
              <a:t>CLI / Gradio / Browser</a:t>
            </a:r>
            <a:endParaRPr lang="en-US" sz="1250"/>
          </a:p>
        </p:txBody>
      </p:sp>
      <p:sp>
        <p:nvSpPr>
          <p:cNvPr id="25" name="Text 22"/>
          <p:cNvSpPr/>
          <p:nvPr/>
        </p:nvSpPr>
        <p:spPr>
          <a:xfrm>
            <a:off x="8275320" y="30632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A00000"/>
                </a:solidFill>
              </a:rPr>
              <a:t>Tests</a:t>
            </a:r>
            <a:endParaRPr lang="en-US" sz="1250"/>
          </a:p>
        </p:txBody>
      </p:sp>
      <p:sp>
        <p:nvSpPr>
          <p:cNvPr id="26" name="Text 23"/>
          <p:cNvSpPr/>
          <p:nvPr/>
        </p:nvSpPr>
        <p:spPr>
          <a:xfrm>
            <a:off x="9144000" y="3063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11111"/>
                </a:solidFill>
              </a:rPr>
              <a:t>36 passed</a:t>
            </a:r>
            <a:endParaRPr lang="en-US" sz="1250"/>
          </a:p>
        </p:txBody>
      </p:sp>
      <p:sp>
        <p:nvSpPr>
          <p:cNvPr id="27" name="Text 24"/>
          <p:cNvSpPr/>
          <p:nvPr/>
        </p:nvSpPr>
        <p:spPr>
          <a:xfrm>
            <a:off x="8229600" y="3703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A00000"/>
                </a:solidFill>
              </a:rPr>
              <a:t>[Implementation summary]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Flow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5/22</a:t>
            </a:r>
            <a:endParaRPr lang="en-US" sz="800"/>
          </a:p>
        </p:txBody>
      </p:sp>
      <p:sp>
        <p:nvSpPr>
          <p:cNvPr id="7" name="Shape 4"/>
          <p:cNvSpPr/>
          <p:nvPr/>
        </p:nvSpPr>
        <p:spPr>
          <a:xfrm>
            <a:off x="1645920" y="1709928"/>
            <a:ext cx="320040" cy="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926080" y="1709928"/>
            <a:ext cx="411480" cy="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297680" y="1709928"/>
            <a:ext cx="411480" cy="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669280" y="1709928"/>
            <a:ext cx="411480" cy="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040880" y="1709928"/>
            <a:ext cx="411480" cy="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8412480" y="1709928"/>
            <a:ext cx="411480" cy="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9326880" y="2011680"/>
            <a:ext cx="0" cy="123444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800600" y="3538728"/>
            <a:ext cx="685800" cy="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720840" y="3538728"/>
            <a:ext cx="548640" cy="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85800" y="1417320"/>
            <a:ext cx="96012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1490472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User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Text</a:t>
            </a:r>
            <a:endParaRPr lang="en-US" sz="1100"/>
          </a:p>
        </p:txBody>
      </p:sp>
      <p:sp>
        <p:nvSpPr>
          <p:cNvPr id="18" name="Shape 15"/>
          <p:cNvSpPr/>
          <p:nvPr/>
        </p:nvSpPr>
        <p:spPr>
          <a:xfrm>
            <a:off x="1965960" y="1417320"/>
            <a:ext cx="96012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011680" y="1490472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History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Builder</a:t>
            </a:r>
            <a:endParaRPr lang="en-US" sz="1100"/>
          </a:p>
        </p:txBody>
      </p:sp>
      <p:sp>
        <p:nvSpPr>
          <p:cNvPr id="20" name="Shape 17"/>
          <p:cNvSpPr/>
          <p:nvPr/>
        </p:nvSpPr>
        <p:spPr>
          <a:xfrm>
            <a:off x="3337560" y="1417320"/>
            <a:ext cx="96012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83280" y="1490472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Profile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Prompt</a:t>
            </a:r>
            <a:endParaRPr lang="en-US" sz="1100"/>
          </a:p>
        </p:txBody>
      </p:sp>
      <p:sp>
        <p:nvSpPr>
          <p:cNvPr id="22" name="Shape 19"/>
          <p:cNvSpPr/>
          <p:nvPr/>
        </p:nvSpPr>
        <p:spPr>
          <a:xfrm>
            <a:off x="4709160" y="1417320"/>
            <a:ext cx="96012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0" y="1490472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LLM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Provider</a:t>
            </a:r>
            <a:endParaRPr lang="en-US" sz="1100"/>
          </a:p>
        </p:txBody>
      </p:sp>
      <p:sp>
        <p:nvSpPr>
          <p:cNvPr id="24" name="Shape 21"/>
          <p:cNvSpPr/>
          <p:nvPr/>
        </p:nvSpPr>
        <p:spPr>
          <a:xfrm>
            <a:off x="6080760" y="1417320"/>
            <a:ext cx="96012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26480" y="1490472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JSON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Parser</a:t>
            </a:r>
            <a:endParaRPr lang="en-US" sz="1100"/>
          </a:p>
        </p:txBody>
      </p:sp>
      <p:sp>
        <p:nvSpPr>
          <p:cNvPr id="26" name="Shape 23"/>
          <p:cNvSpPr/>
          <p:nvPr/>
        </p:nvSpPr>
        <p:spPr>
          <a:xfrm>
            <a:off x="7452360" y="1417320"/>
            <a:ext cx="960120" cy="594360"/>
          </a:xfrm>
          <a:prstGeom prst="roundRect">
            <a:avLst>
              <a:gd name="adj" fmla="val 6154"/>
            </a:avLst>
          </a:prstGeom>
          <a:solidFill>
            <a:srgbClr val="F5FFF5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98080" y="1490472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Action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Planner</a:t>
            </a:r>
            <a:endParaRPr lang="en-US" sz="1100"/>
          </a:p>
        </p:txBody>
      </p:sp>
      <p:sp>
        <p:nvSpPr>
          <p:cNvPr id="28" name="Shape 25"/>
          <p:cNvSpPr/>
          <p:nvPr/>
        </p:nvSpPr>
        <p:spPr>
          <a:xfrm>
            <a:off x="8823960" y="1417320"/>
            <a:ext cx="96012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869680" y="1490472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Post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Processor</a:t>
            </a:r>
            <a:endParaRPr lang="en-US" sz="1100"/>
          </a:p>
        </p:txBody>
      </p:sp>
      <p:sp>
        <p:nvSpPr>
          <p:cNvPr id="30" name="Shape 27"/>
          <p:cNvSpPr/>
          <p:nvPr/>
        </p:nvSpPr>
        <p:spPr>
          <a:xfrm>
            <a:off x="3794760" y="3246120"/>
            <a:ext cx="96012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840480" y="3319272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TTS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Provider</a:t>
            </a:r>
            <a:endParaRPr lang="en-US" sz="1100"/>
          </a:p>
        </p:txBody>
      </p:sp>
      <p:sp>
        <p:nvSpPr>
          <p:cNvPr id="32" name="Shape 29"/>
          <p:cNvSpPr/>
          <p:nvPr/>
        </p:nvSpPr>
        <p:spPr>
          <a:xfrm>
            <a:off x="5486400" y="3246120"/>
            <a:ext cx="96012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32120" y="3319272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Avatar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Controller</a:t>
            </a:r>
            <a:endParaRPr lang="en-US" sz="1100"/>
          </a:p>
        </p:txBody>
      </p:sp>
      <p:sp>
        <p:nvSpPr>
          <p:cNvPr id="34" name="Shape 31"/>
          <p:cNvSpPr/>
          <p:nvPr/>
        </p:nvSpPr>
        <p:spPr>
          <a:xfrm>
            <a:off x="7269480" y="3246120"/>
            <a:ext cx="96012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315200" y="3319272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Pipeline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Result</a:t>
            </a:r>
            <a:endParaRPr lang="en-US" sz="1100"/>
          </a:p>
        </p:txBody>
      </p:sp>
      <p:sp>
        <p:nvSpPr>
          <p:cNvPr id="36" name="Text 33"/>
          <p:cNvSpPr/>
          <p:nvPr/>
        </p:nvSpPr>
        <p:spPr>
          <a:xfrm>
            <a:off x="685800" y="57150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code path: src/hai_avatar/services/pipeline_service.py::PipelineService.process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Execution Steps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6/22</a:t>
            </a:r>
            <a:endParaRPr lang="en-US" sz="800"/>
          </a:p>
        </p:txBody>
      </p:sp>
      <p:sp>
        <p:nvSpPr>
          <p:cNvPr id="7" name="Shape 4"/>
          <p:cNvSpPr/>
          <p:nvPr/>
        </p:nvSpPr>
        <p:spPr>
          <a:xfrm>
            <a:off x="594360" y="886968"/>
            <a:ext cx="210312" cy="21031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923544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1</a:t>
            </a:r>
            <a:endParaRPr lang="en-US" sz="700"/>
          </a:p>
        </p:txBody>
      </p:sp>
      <p:sp>
        <p:nvSpPr>
          <p:cNvPr id="9" name="Text 6"/>
          <p:cNvSpPr/>
          <p:nvPr/>
        </p:nvSpPr>
        <p:spPr>
          <a:xfrm>
            <a:off x="941832" y="8686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111111"/>
                </a:solidFill>
              </a:rPr>
              <a:t>Validate user input: empty text and max length checks.</a:t>
            </a:r>
            <a:endParaRPr lang="en-US" sz="1220"/>
          </a:p>
        </p:txBody>
      </p:sp>
      <p:sp>
        <p:nvSpPr>
          <p:cNvPr id="10" name="Shape 7"/>
          <p:cNvSpPr/>
          <p:nvPr/>
        </p:nvSpPr>
        <p:spPr>
          <a:xfrm>
            <a:off x="594360" y="1316736"/>
            <a:ext cx="210312" cy="21031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353312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2</a:t>
            </a:r>
            <a:endParaRPr lang="en-US" sz="700"/>
          </a:p>
        </p:txBody>
      </p:sp>
      <p:sp>
        <p:nvSpPr>
          <p:cNvPr id="12" name="Text 9"/>
          <p:cNvSpPr/>
          <p:nvPr/>
        </p:nvSpPr>
        <p:spPr>
          <a:xfrm>
            <a:off x="941832" y="129844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111111"/>
                </a:solidFill>
              </a:rPr>
              <a:t>Load profile and build personalized system prompt if enabled.</a:t>
            </a:r>
            <a:endParaRPr lang="en-US" sz="1220"/>
          </a:p>
        </p:txBody>
      </p:sp>
      <p:sp>
        <p:nvSpPr>
          <p:cNvPr id="13" name="Shape 10"/>
          <p:cNvSpPr/>
          <p:nvPr/>
        </p:nvSpPr>
        <p:spPr>
          <a:xfrm>
            <a:off x="594360" y="1746504"/>
            <a:ext cx="210312" cy="21031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783080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3</a:t>
            </a:r>
            <a:endParaRPr lang="en-US" sz="700"/>
          </a:p>
        </p:txBody>
      </p:sp>
      <p:sp>
        <p:nvSpPr>
          <p:cNvPr id="15" name="Text 12"/>
          <p:cNvSpPr/>
          <p:nvPr/>
        </p:nvSpPr>
        <p:spPr>
          <a:xfrm>
            <a:off x="941832" y="172821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111111"/>
                </a:solidFill>
              </a:rPr>
              <a:t>Build short conversation history from previous turns.</a:t>
            </a:r>
            <a:endParaRPr lang="en-US" sz="1220"/>
          </a:p>
        </p:txBody>
      </p:sp>
      <p:sp>
        <p:nvSpPr>
          <p:cNvPr id="16" name="Shape 13"/>
          <p:cNvSpPr/>
          <p:nvPr/>
        </p:nvSpPr>
        <p:spPr>
          <a:xfrm>
            <a:off x="594360" y="2176272"/>
            <a:ext cx="210312" cy="21031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212848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4</a:t>
            </a:r>
            <a:endParaRPr lang="en-US" sz="700"/>
          </a:p>
        </p:txBody>
      </p:sp>
      <p:sp>
        <p:nvSpPr>
          <p:cNvPr id="18" name="Text 15"/>
          <p:cNvSpPr/>
          <p:nvPr/>
        </p:nvSpPr>
        <p:spPr>
          <a:xfrm>
            <a:off x="941832" y="21579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111111"/>
                </a:solidFill>
              </a:rPr>
              <a:t>Call the LLM provider with retry.</a:t>
            </a:r>
            <a:endParaRPr lang="en-US" sz="1220"/>
          </a:p>
        </p:txBody>
      </p:sp>
      <p:sp>
        <p:nvSpPr>
          <p:cNvPr id="19" name="Shape 16"/>
          <p:cNvSpPr/>
          <p:nvPr/>
        </p:nvSpPr>
        <p:spPr>
          <a:xfrm>
            <a:off x="594360" y="2606040"/>
            <a:ext cx="210312" cy="21031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642616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5</a:t>
            </a:r>
            <a:endParaRPr lang="en-US" sz="700"/>
          </a:p>
        </p:txBody>
      </p:sp>
      <p:sp>
        <p:nvSpPr>
          <p:cNvPr id="21" name="Text 18"/>
          <p:cNvSpPr/>
          <p:nvPr/>
        </p:nvSpPr>
        <p:spPr>
          <a:xfrm>
            <a:off x="941832" y="25877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111111"/>
                </a:solidFill>
              </a:rPr>
              <a:t>Parse structured LLM JSON; use neutral fallback if invalid.</a:t>
            </a:r>
            <a:endParaRPr lang="en-US" sz="1220"/>
          </a:p>
        </p:txBody>
      </p:sp>
      <p:sp>
        <p:nvSpPr>
          <p:cNvPr id="22" name="Shape 19"/>
          <p:cNvSpPr/>
          <p:nvPr/>
        </p:nvSpPr>
        <p:spPr>
          <a:xfrm>
            <a:off x="594360" y="3035808"/>
            <a:ext cx="210312" cy="21031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072384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6</a:t>
            </a:r>
            <a:endParaRPr lang="en-US" sz="700"/>
          </a:p>
        </p:txBody>
      </p:sp>
      <p:sp>
        <p:nvSpPr>
          <p:cNvPr id="24" name="Text 21"/>
          <p:cNvSpPr/>
          <p:nvPr/>
        </p:nvSpPr>
        <p:spPr>
          <a:xfrm>
            <a:off x="941832" y="30175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111111"/>
                </a:solidFill>
              </a:rPr>
              <a:t>Run Action Planner to normalize expression, gesture, and voice command.</a:t>
            </a:r>
            <a:endParaRPr lang="en-US" sz="1220"/>
          </a:p>
        </p:txBody>
      </p:sp>
      <p:sp>
        <p:nvSpPr>
          <p:cNvPr id="25" name="Shape 22"/>
          <p:cNvSpPr/>
          <p:nvPr/>
        </p:nvSpPr>
        <p:spPr>
          <a:xfrm>
            <a:off x="594360" y="3465576"/>
            <a:ext cx="210312" cy="21031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502152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7</a:t>
            </a:r>
            <a:endParaRPr lang="en-US" sz="700"/>
          </a:p>
        </p:txBody>
      </p:sp>
      <p:sp>
        <p:nvSpPr>
          <p:cNvPr id="27" name="Text 24"/>
          <p:cNvSpPr/>
          <p:nvPr/>
        </p:nvSpPr>
        <p:spPr>
          <a:xfrm>
            <a:off x="941832" y="344728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111111"/>
                </a:solidFill>
              </a:rPr>
              <a:t>Apply personalization post-processing when enabled.</a:t>
            </a:r>
            <a:endParaRPr lang="en-US" sz="1220"/>
          </a:p>
        </p:txBody>
      </p:sp>
      <p:sp>
        <p:nvSpPr>
          <p:cNvPr id="28" name="Shape 25"/>
          <p:cNvSpPr/>
          <p:nvPr/>
        </p:nvSpPr>
        <p:spPr>
          <a:xfrm>
            <a:off x="594360" y="3895344"/>
            <a:ext cx="210312" cy="21031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3931920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8</a:t>
            </a:r>
            <a:endParaRPr lang="en-US" sz="700"/>
          </a:p>
        </p:txBody>
      </p:sp>
      <p:sp>
        <p:nvSpPr>
          <p:cNvPr id="30" name="Text 27"/>
          <p:cNvSpPr/>
          <p:nvPr/>
        </p:nvSpPr>
        <p:spPr>
          <a:xfrm>
            <a:off x="941832" y="387705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111111"/>
                </a:solidFill>
              </a:rPr>
              <a:t>Synthesize speech and prepare avatar expression / gesture.</a:t>
            </a:r>
            <a:endParaRPr lang="en-US" sz="1220"/>
          </a:p>
        </p:txBody>
      </p:sp>
      <p:sp>
        <p:nvSpPr>
          <p:cNvPr id="31" name="Shape 28"/>
          <p:cNvSpPr/>
          <p:nvPr/>
        </p:nvSpPr>
        <p:spPr>
          <a:xfrm>
            <a:off x="594360" y="4325112"/>
            <a:ext cx="210312" cy="21031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4360" y="4361688"/>
            <a:ext cx="210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9</a:t>
            </a:r>
            <a:endParaRPr lang="en-US" sz="700"/>
          </a:p>
        </p:txBody>
      </p:sp>
      <p:sp>
        <p:nvSpPr>
          <p:cNvPr id="33" name="Text 30"/>
          <p:cNvSpPr/>
          <p:nvPr/>
        </p:nvSpPr>
        <p:spPr>
          <a:xfrm>
            <a:off x="941832" y="430682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111111"/>
                </a:solidFill>
              </a:rPr>
              <a:t>Play audio, reset avatar, then save conversation and profile state.</a:t>
            </a:r>
            <a:endParaRPr lang="en-US" sz="1220"/>
          </a:p>
        </p:txBody>
      </p:sp>
      <p:sp>
        <p:nvSpPr>
          <p:cNvPr id="34" name="Text 31"/>
          <p:cNvSpPr/>
          <p:nvPr/>
        </p:nvSpPr>
        <p:spPr>
          <a:xfrm>
            <a:off x="594360" y="5532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A00000"/>
                </a:solidFill>
              </a:rPr>
              <a:t>One-Sentence Summary</a:t>
            </a:r>
            <a:endParaRPr lang="en-US" sz="1400"/>
          </a:p>
        </p:txBody>
      </p:sp>
      <p:sp>
        <p:nvSpPr>
          <p:cNvPr id="35" name="Text 32"/>
          <p:cNvSpPr/>
          <p:nvPr/>
        </p:nvSpPr>
        <p:spPr>
          <a:xfrm>
            <a:off x="59436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11111"/>
                </a:solidFill>
              </a:rPr>
              <a:t>The base layer is not just an API call. It is a stateful, fallback-aware, multi-provider asynchronous orchestration layer.</a:t>
            </a:r>
            <a:endParaRPr lang="en-US" sz="13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Layer Demo: What to Show Live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7/22</a:t>
            </a:r>
            <a:endParaRPr lang="en-US" sz="800"/>
          </a:p>
        </p:txBody>
      </p:sp>
      <p:sp>
        <p:nvSpPr>
          <p:cNvPr id="7" name="Text 4"/>
          <p:cNvSpPr/>
          <p:nvPr/>
        </p:nvSpPr>
        <p:spPr>
          <a:xfrm>
            <a:off x="59436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111"/>
                </a:solidFill>
              </a:rPr>
              <a:t>Example Input</a:t>
            </a:r>
            <a:endParaRPr lang="en-US" sz="150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11111"/>
                </a:solidFill>
              </a:rPr>
              <a:t>“I feel stressed about my project.”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594360" y="21488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What the Audience Should See</a:t>
            </a:r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640080" y="267004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950976" y="26517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natural text response.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640080" y="309067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950976" y="307238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generated speech audio file.</a:t>
            </a:r>
            <a:endParaRPr lang="en-US" sz="1300"/>
          </a:p>
        </p:txBody>
      </p:sp>
      <p:sp>
        <p:nvSpPr>
          <p:cNvPr id="14" name="Text 11"/>
          <p:cNvSpPr/>
          <p:nvPr/>
        </p:nvSpPr>
        <p:spPr>
          <a:xfrm>
            <a:off x="640080" y="351129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5" name="Text 12"/>
          <p:cNvSpPr/>
          <p:nvPr/>
        </p:nvSpPr>
        <p:spPr>
          <a:xfrm>
            <a:off x="950976" y="34930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changes such as supportive or concerned.</a:t>
            </a:r>
            <a:endParaRPr lang="en-US" sz="1300"/>
          </a:p>
        </p:txBody>
      </p:sp>
      <p:sp>
        <p:nvSpPr>
          <p:cNvPr id="16" name="Text 13"/>
          <p:cNvSpPr/>
          <p:nvPr/>
        </p:nvSpPr>
        <p:spPr>
          <a:xfrm>
            <a:off x="640080" y="39319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7" name="Text 14"/>
          <p:cNvSpPr/>
          <p:nvPr/>
        </p:nvSpPr>
        <p:spPr>
          <a:xfrm>
            <a:off x="950976" y="39136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 triggers such as nod, explain, or small bow.</a:t>
            </a:r>
            <a:endParaRPr lang="en-US" sz="1300"/>
          </a:p>
        </p:txBody>
      </p:sp>
      <p:sp>
        <p:nvSpPr>
          <p:cNvPr id="18" name="Text 15"/>
          <p:cNvSpPr/>
          <p:nvPr/>
        </p:nvSpPr>
        <p:spPr>
          <a:xfrm>
            <a:off x="7315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111"/>
                </a:solidFill>
              </a:rPr>
              <a:t>Expected Output Fields</a:t>
            </a:r>
            <a:endParaRPr lang="en-US" sz="1500"/>
          </a:p>
        </p:txBody>
      </p:sp>
      <p:sp>
        <p:nvSpPr>
          <p:cNvPr id="19" name="Text 16"/>
          <p:cNvSpPr/>
          <p:nvPr/>
        </p:nvSpPr>
        <p:spPr>
          <a:xfrm>
            <a:off x="7360920" y="15087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A00000"/>
                </a:solidFill>
              </a:rPr>
              <a:t>reply_text</a:t>
            </a:r>
            <a:endParaRPr lang="en-US" sz="1250"/>
          </a:p>
        </p:txBody>
      </p:sp>
      <p:sp>
        <p:nvSpPr>
          <p:cNvPr id="20" name="Text 17"/>
          <p:cNvSpPr/>
          <p:nvPr/>
        </p:nvSpPr>
        <p:spPr>
          <a:xfrm>
            <a:off x="8915400" y="15087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11111"/>
                </a:solidFill>
              </a:rPr>
              <a:t>Natural-language response</a:t>
            </a:r>
            <a:endParaRPr lang="en-US" sz="1250"/>
          </a:p>
        </p:txBody>
      </p:sp>
      <p:sp>
        <p:nvSpPr>
          <p:cNvPr id="21" name="Text 18"/>
          <p:cNvSpPr/>
          <p:nvPr/>
        </p:nvSpPr>
        <p:spPr>
          <a:xfrm>
            <a:off x="7360920" y="19202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A00000"/>
                </a:solidFill>
              </a:rPr>
              <a:t>emotion</a:t>
            </a:r>
            <a:endParaRPr lang="en-US" sz="1250"/>
          </a:p>
        </p:txBody>
      </p:sp>
      <p:sp>
        <p:nvSpPr>
          <p:cNvPr id="22" name="Text 19"/>
          <p:cNvSpPr/>
          <p:nvPr/>
        </p:nvSpPr>
        <p:spPr>
          <a:xfrm>
            <a:off x="8915400" y="19202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11111"/>
                </a:solidFill>
              </a:rPr>
              <a:t>supportive</a:t>
            </a:r>
            <a:endParaRPr lang="en-US" sz="1250"/>
          </a:p>
        </p:txBody>
      </p:sp>
      <p:sp>
        <p:nvSpPr>
          <p:cNvPr id="23" name="Text 20"/>
          <p:cNvSpPr/>
          <p:nvPr/>
        </p:nvSpPr>
        <p:spPr>
          <a:xfrm>
            <a:off x="7360920" y="23317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A00000"/>
                </a:solidFill>
              </a:rPr>
              <a:t>expression</a:t>
            </a:r>
            <a:endParaRPr lang="en-US" sz="1250"/>
          </a:p>
        </p:txBody>
      </p:sp>
      <p:sp>
        <p:nvSpPr>
          <p:cNvPr id="24" name="Text 21"/>
          <p:cNvSpPr/>
          <p:nvPr/>
        </p:nvSpPr>
        <p:spPr>
          <a:xfrm>
            <a:off x="8915400" y="23317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11111"/>
                </a:solidFill>
              </a:rPr>
              <a:t>concerned / soft_smile</a:t>
            </a:r>
            <a:endParaRPr lang="en-US" sz="1250"/>
          </a:p>
        </p:txBody>
      </p:sp>
      <p:sp>
        <p:nvSpPr>
          <p:cNvPr id="25" name="Text 22"/>
          <p:cNvSpPr/>
          <p:nvPr/>
        </p:nvSpPr>
        <p:spPr>
          <a:xfrm>
            <a:off x="7360920" y="27432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A00000"/>
                </a:solidFill>
              </a:rPr>
              <a:t>gestures</a:t>
            </a:r>
            <a:endParaRPr lang="en-US" sz="1250"/>
          </a:p>
        </p:txBody>
      </p:sp>
      <p:sp>
        <p:nvSpPr>
          <p:cNvPr id="26" name="Text 23"/>
          <p:cNvSpPr/>
          <p:nvPr/>
        </p:nvSpPr>
        <p:spPr>
          <a:xfrm>
            <a:off x="8915400" y="27432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11111"/>
                </a:solidFill>
              </a:rPr>
              <a:t>nod, explain</a:t>
            </a:r>
            <a:endParaRPr lang="en-US" sz="1250"/>
          </a:p>
        </p:txBody>
      </p:sp>
      <p:sp>
        <p:nvSpPr>
          <p:cNvPr id="27" name="Text 24"/>
          <p:cNvSpPr/>
          <p:nvPr/>
        </p:nvSpPr>
        <p:spPr>
          <a:xfrm>
            <a:off x="7360920" y="3154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A00000"/>
                </a:solidFill>
              </a:rPr>
              <a:t>voice_style</a:t>
            </a:r>
            <a:endParaRPr lang="en-US" sz="1250"/>
          </a:p>
        </p:txBody>
      </p:sp>
      <p:sp>
        <p:nvSpPr>
          <p:cNvPr id="28" name="Text 25"/>
          <p:cNvSpPr/>
          <p:nvPr/>
        </p:nvSpPr>
        <p:spPr>
          <a:xfrm>
            <a:off x="8915400" y="31546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11111"/>
                </a:solidFill>
              </a:rPr>
              <a:t>gentle / calm</a:t>
            </a:r>
            <a:endParaRPr lang="en-US" sz="1250"/>
          </a:p>
        </p:txBody>
      </p:sp>
      <p:sp>
        <p:nvSpPr>
          <p:cNvPr id="29" name="Text 26"/>
          <p:cNvSpPr/>
          <p:nvPr/>
        </p:nvSpPr>
        <p:spPr>
          <a:xfrm>
            <a:off x="7360920" y="35661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A00000"/>
                </a:solidFill>
              </a:rPr>
              <a:t>audio_path</a:t>
            </a:r>
            <a:endParaRPr lang="en-US" sz="1250"/>
          </a:p>
        </p:txBody>
      </p:sp>
      <p:sp>
        <p:nvSpPr>
          <p:cNvPr id="30" name="Text 27"/>
          <p:cNvSpPr/>
          <p:nvPr/>
        </p:nvSpPr>
        <p:spPr>
          <a:xfrm>
            <a:off x="8915400" y="35661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11111"/>
                </a:solidFill>
              </a:rPr>
              <a:t>assets/audio/*.wav</a:t>
            </a:r>
            <a:endParaRPr lang="en-US" sz="12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Layer Reliability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8/22</a:t>
            </a:r>
            <a:endParaRPr lang="en-US" sz="800"/>
          </a:p>
        </p:txBody>
      </p:sp>
      <p:sp>
        <p:nvSpPr>
          <p:cNvPr id="7" name="Text 4"/>
          <p:cNvSpPr/>
          <p:nvPr/>
        </p:nvSpPr>
        <p:spPr>
          <a:xfrm>
            <a:off x="594360" y="12344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Fallback Strategy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640080" y="175564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950976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provider error: retry, then neutral fallback.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640080" y="217627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950976" y="21579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JSON: parser repair or schema-safe fallback.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640080" y="259689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950976" y="25786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 failure: fallback to mock audio.</a:t>
            </a:r>
            <a:endParaRPr lang="en-US" sz="1300"/>
          </a:p>
        </p:txBody>
      </p:sp>
      <p:sp>
        <p:nvSpPr>
          <p:cNvPr id="14" name="Text 11"/>
          <p:cNvSpPr/>
          <p:nvPr/>
        </p:nvSpPr>
        <p:spPr>
          <a:xfrm>
            <a:off x="640080" y="30175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5" name="Text 12"/>
          <p:cNvSpPr/>
          <p:nvPr/>
        </p:nvSpPr>
        <p:spPr>
          <a:xfrm>
            <a:off x="950976" y="29992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 failure: warning recorded; pipeline still returns a result.</a:t>
            </a:r>
            <a:endParaRPr lang="en-US" sz="1300"/>
          </a:p>
        </p:txBody>
      </p:sp>
      <p:sp>
        <p:nvSpPr>
          <p:cNvPr id="16" name="Text 13"/>
          <p:cNvSpPr/>
          <p:nvPr/>
        </p:nvSpPr>
        <p:spPr>
          <a:xfrm>
            <a:off x="6766560" y="12344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Test Coverage</a:t>
            </a:r>
            <a:endParaRPr lang="en-US" sz="1400"/>
          </a:p>
        </p:txBody>
      </p:sp>
      <p:sp>
        <p:nvSpPr>
          <p:cNvPr id="17" name="Text 14"/>
          <p:cNvSpPr/>
          <p:nvPr/>
        </p:nvSpPr>
        <p:spPr>
          <a:xfrm>
            <a:off x="6812280" y="175564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8" name="Text 15"/>
          <p:cNvSpPr/>
          <p:nvPr/>
        </p:nvSpPr>
        <p:spPr>
          <a:xfrm>
            <a:off x="7123176" y="1737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parsing and fallback.</a:t>
            </a:r>
            <a:endParaRPr lang="en-US" sz="1300"/>
          </a:p>
        </p:txBody>
      </p:sp>
      <p:sp>
        <p:nvSpPr>
          <p:cNvPr id="19" name="Text 16"/>
          <p:cNvSpPr/>
          <p:nvPr/>
        </p:nvSpPr>
        <p:spPr>
          <a:xfrm>
            <a:off x="6812280" y="217627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7123176" y="215798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normalization.</a:t>
            </a:r>
            <a:endParaRPr lang="en-US" sz="1300"/>
          </a:p>
        </p:txBody>
      </p:sp>
      <p:sp>
        <p:nvSpPr>
          <p:cNvPr id="21" name="Text 18"/>
          <p:cNvSpPr/>
          <p:nvPr/>
        </p:nvSpPr>
        <p:spPr>
          <a:xfrm>
            <a:off x="6812280" y="259689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22" name="Text 19"/>
          <p:cNvSpPr/>
          <p:nvPr/>
        </p:nvSpPr>
        <p:spPr>
          <a:xfrm>
            <a:off x="7123176" y="2578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providers.</a:t>
            </a:r>
            <a:endParaRPr lang="en-US" sz="1300"/>
          </a:p>
        </p:txBody>
      </p:sp>
      <p:sp>
        <p:nvSpPr>
          <p:cNvPr id="23" name="Text 20"/>
          <p:cNvSpPr/>
          <p:nvPr/>
        </p:nvSpPr>
        <p:spPr>
          <a:xfrm>
            <a:off x="6812280" y="30175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24" name="Text 21"/>
          <p:cNvSpPr/>
          <p:nvPr/>
        </p:nvSpPr>
        <p:spPr>
          <a:xfrm>
            <a:off x="7123176" y="29992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 integration.</a:t>
            </a:r>
            <a:endParaRPr lang="en-US" sz="1300"/>
          </a:p>
        </p:txBody>
      </p:sp>
      <p:sp>
        <p:nvSpPr>
          <p:cNvPr id="25" name="Text 22"/>
          <p:cNvSpPr/>
          <p:nvPr/>
        </p:nvSpPr>
        <p:spPr>
          <a:xfrm>
            <a:off x="6812280" y="343814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26" name="Text 23"/>
          <p:cNvSpPr/>
          <p:nvPr/>
        </p:nvSpPr>
        <p:spPr>
          <a:xfrm>
            <a:off x="7123176" y="34198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profile state.</a:t>
            </a:r>
            <a:endParaRPr lang="en-US" sz="1300"/>
          </a:p>
        </p:txBody>
      </p:sp>
      <p:sp>
        <p:nvSpPr>
          <p:cNvPr id="27" name="Text 24"/>
          <p:cNvSpPr/>
          <p:nvPr/>
        </p:nvSpPr>
        <p:spPr>
          <a:xfrm>
            <a:off x="6812280" y="4754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A00000"/>
                </a:solidFill>
              </a:rPr>
              <a:t>Current status: 36 tests passed</a:t>
            </a:r>
            <a:endParaRPr 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9/22</a:t>
            </a:r>
            <a:endParaRPr lang="en-US" sz="800"/>
          </a:p>
        </p:txBody>
      </p:sp>
      <p:sp>
        <p:nvSpPr>
          <p:cNvPr id="7" name="Shape 4"/>
          <p:cNvSpPr/>
          <p:nvPr/>
        </p:nvSpPr>
        <p:spPr>
          <a:xfrm>
            <a:off x="502920" y="149047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54076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1</a:t>
            </a:r>
            <a:endParaRPr lang="en-US" sz="800"/>
          </a:p>
        </p:txBody>
      </p:sp>
      <p:sp>
        <p:nvSpPr>
          <p:cNvPr id="9" name="Text 6"/>
          <p:cNvSpPr/>
          <p:nvPr/>
        </p:nvSpPr>
        <p:spPr>
          <a:xfrm>
            <a:off x="978408" y="14904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1. Base Layer: End-to-End Pipeline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02920" y="2496312"/>
            <a:ext cx="256032" cy="25603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54660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2</a:t>
            </a:r>
            <a:endParaRPr lang="en-US" sz="800"/>
          </a:p>
        </p:txBody>
      </p:sp>
      <p:sp>
        <p:nvSpPr>
          <p:cNvPr id="12" name="Text 9"/>
          <p:cNvSpPr/>
          <p:nvPr/>
        </p:nvSpPr>
        <p:spPr>
          <a:xfrm>
            <a:off x="978408" y="24963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Part 2. Personalization Layer</a:t>
            </a:r>
            <a:endParaRPr lang="en-US" sz="1400"/>
          </a:p>
        </p:txBody>
      </p:sp>
      <p:sp>
        <p:nvSpPr>
          <p:cNvPr id="13" name="Shape 10"/>
          <p:cNvSpPr/>
          <p:nvPr/>
        </p:nvSpPr>
        <p:spPr>
          <a:xfrm>
            <a:off x="502920" y="350215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55244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3</a:t>
            </a:r>
            <a:endParaRPr lang="en-US" sz="800"/>
          </a:p>
        </p:txBody>
      </p:sp>
      <p:sp>
        <p:nvSpPr>
          <p:cNvPr id="15" name="Text 12"/>
          <p:cNvSpPr/>
          <p:nvPr/>
        </p:nvSpPr>
        <p:spPr>
          <a:xfrm>
            <a:off x="978408" y="35021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3. Innovation Layer: Action Planner and Embodied Response</a:t>
            </a:r>
            <a:endParaRPr lang="en-US" sz="1400"/>
          </a:p>
        </p:txBody>
      </p:sp>
      <p:sp>
        <p:nvSpPr>
          <p:cNvPr id="16" name="Shape 13"/>
          <p:cNvSpPr/>
          <p:nvPr/>
        </p:nvSpPr>
        <p:spPr>
          <a:xfrm>
            <a:off x="502920" y="450799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5582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4</a:t>
            </a:r>
            <a:endParaRPr lang="en-US" sz="800"/>
          </a:p>
        </p:txBody>
      </p:sp>
      <p:sp>
        <p:nvSpPr>
          <p:cNvPr id="18" name="Text 15"/>
          <p:cNvSpPr/>
          <p:nvPr/>
        </p:nvSpPr>
        <p:spPr>
          <a:xfrm>
            <a:off x="978408" y="45079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4. Interface, Evaluation, and Storytelling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Personalization: Core Idea</a:t>
            </a:r>
            <a:endParaRPr lang="en-US" sz="24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10/22</a:t>
            </a:r>
            <a:endParaRPr lang="en-US" sz="800"/>
          </a:p>
        </p:txBody>
      </p:sp>
      <p:sp>
        <p:nvSpPr>
          <p:cNvPr id="8" name="Shape 5"/>
          <p:cNvSpPr/>
          <p:nvPr/>
        </p:nvSpPr>
        <p:spPr>
          <a:xfrm>
            <a:off x="4800600" y="2084832"/>
            <a:ext cx="0" cy="612648"/>
          </a:xfrm>
          <a:prstGeom prst="line">
            <a:avLst/>
          </a:prstGeom>
          <a:noFill/>
          <a:ln w="1397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7360920" y="2084832"/>
            <a:ext cx="868680" cy="612648"/>
          </a:xfrm>
          <a:prstGeom prst="line">
            <a:avLst/>
          </a:prstGeom>
          <a:noFill/>
          <a:ln w="1397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00400" y="3337560"/>
            <a:ext cx="0" cy="685800"/>
          </a:xfrm>
          <a:prstGeom prst="line">
            <a:avLst/>
          </a:prstGeom>
          <a:noFill/>
          <a:ln w="1397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9098280" y="3337560"/>
            <a:ext cx="0" cy="685800"/>
          </a:xfrm>
          <a:prstGeom prst="line">
            <a:avLst/>
          </a:prstGeom>
          <a:noFill/>
          <a:ln w="1397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960120" y="4617720"/>
            <a:ext cx="1005840" cy="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926080" y="4617720"/>
            <a:ext cx="1005840" cy="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892040" y="4617720"/>
            <a:ext cx="868680" cy="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720840" y="4617720"/>
            <a:ext cx="868680" cy="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549640" y="4617720"/>
            <a:ext cx="868680" cy="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10378440" y="4617720"/>
            <a:ext cx="731520" cy="0"/>
          </a:xfrm>
          <a:prstGeom prst="line">
            <a:avLst/>
          </a:prstGeom>
          <a:noFill/>
          <a:ln w="1270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846320" y="1417320"/>
            <a:ext cx="2468880" cy="1051560"/>
          </a:xfrm>
          <a:prstGeom prst="roundRect">
            <a:avLst>
              <a:gd name="adj" fmla="val 3478"/>
            </a:avLst>
          </a:prstGeom>
          <a:solidFill>
            <a:srgbClr val="FFF5F5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1490472"/>
            <a:ext cx="2377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>
                <a:solidFill>
                  <a:srgbClr val="111111"/>
                </a:solidFill>
              </a:rPr>
              <a:t>UserProfile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111111"/>
                </a:solidFill>
              </a:rPr>
              <a:t>Big Five traits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111111"/>
                </a:solidFill>
              </a:rPr>
              <a:t>Communication preferences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111111"/>
                </a:solidFill>
              </a:rPr>
              <a:t>Gesture affinity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111111"/>
                </a:solidFill>
              </a:rPr>
              <a:t>Interaction history</a:t>
            </a:r>
            <a:endParaRPr lang="en-US" sz="900"/>
          </a:p>
        </p:txBody>
      </p:sp>
      <p:sp>
        <p:nvSpPr>
          <p:cNvPr id="20" name="Shape 17"/>
          <p:cNvSpPr/>
          <p:nvPr/>
        </p:nvSpPr>
        <p:spPr>
          <a:xfrm>
            <a:off x="2331720" y="2697480"/>
            <a:ext cx="173736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377440" y="2770632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PromptBuilder</a:t>
            </a:r>
            <a:endParaRPr lang="en-US" sz="1100"/>
          </a:p>
        </p:txBody>
      </p:sp>
      <p:sp>
        <p:nvSpPr>
          <p:cNvPr id="22" name="Shape 19"/>
          <p:cNvSpPr/>
          <p:nvPr/>
        </p:nvSpPr>
        <p:spPr>
          <a:xfrm>
            <a:off x="8229600" y="2697480"/>
            <a:ext cx="182880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75320" y="2770632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PostProcessor</a:t>
            </a:r>
            <a:endParaRPr lang="en-US" sz="1100"/>
          </a:p>
        </p:txBody>
      </p:sp>
      <p:sp>
        <p:nvSpPr>
          <p:cNvPr id="24" name="Shape 21"/>
          <p:cNvSpPr/>
          <p:nvPr/>
        </p:nvSpPr>
        <p:spPr>
          <a:xfrm>
            <a:off x="320040" y="4251960"/>
            <a:ext cx="86868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4325112"/>
            <a:ext cx="777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>
                <a:solidFill>
                  <a:srgbClr val="111111"/>
                </a:solidFill>
              </a:rPr>
              <a:t>User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111111"/>
                </a:solidFill>
              </a:rPr>
              <a:t>Input</a:t>
            </a:r>
            <a:endParaRPr lang="en-US" sz="1000"/>
          </a:p>
        </p:txBody>
      </p:sp>
      <p:sp>
        <p:nvSpPr>
          <p:cNvPr id="26" name="Shape 23"/>
          <p:cNvSpPr/>
          <p:nvPr/>
        </p:nvSpPr>
        <p:spPr>
          <a:xfrm>
            <a:off x="1965960" y="4251960"/>
            <a:ext cx="96012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011680" y="4325112"/>
            <a:ext cx="868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LLM</a:t>
            </a:r>
            <a:endParaRPr lang="en-US" sz="1100"/>
          </a:p>
        </p:txBody>
      </p:sp>
      <p:sp>
        <p:nvSpPr>
          <p:cNvPr id="28" name="Shape 25"/>
          <p:cNvSpPr/>
          <p:nvPr/>
        </p:nvSpPr>
        <p:spPr>
          <a:xfrm>
            <a:off x="3931920" y="4069080"/>
            <a:ext cx="960120" cy="10515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977640" y="4142232"/>
            <a:ext cx="868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111111"/>
                </a:solidFill>
              </a:rPr>
              <a:t>Reply +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111111"/>
                </a:solidFill>
              </a:rPr>
              <a:t>emotion +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111111"/>
                </a:solidFill>
              </a:rPr>
              <a:t>gesture +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111111"/>
                </a:solidFill>
              </a:rPr>
              <a:t>voice style</a:t>
            </a:r>
            <a:endParaRPr lang="en-US" sz="800"/>
          </a:p>
        </p:txBody>
      </p:sp>
      <p:sp>
        <p:nvSpPr>
          <p:cNvPr id="30" name="Shape 27"/>
          <p:cNvSpPr/>
          <p:nvPr/>
        </p:nvSpPr>
        <p:spPr>
          <a:xfrm>
            <a:off x="5760720" y="4251960"/>
            <a:ext cx="960120" cy="685800"/>
          </a:xfrm>
          <a:prstGeom prst="roundRect">
            <a:avLst>
              <a:gd name="adj" fmla="val 5333"/>
            </a:avLst>
          </a:prstGeom>
          <a:solidFill>
            <a:srgbClr val="F5FFF5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4325112"/>
            <a:ext cx="868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>
                <a:solidFill>
                  <a:srgbClr val="111111"/>
                </a:solidFill>
              </a:rPr>
              <a:t>Action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111111"/>
                </a:solidFill>
              </a:rPr>
              <a:t>Planner</a:t>
            </a:r>
            <a:endParaRPr lang="en-US" sz="1000"/>
          </a:p>
        </p:txBody>
      </p:sp>
      <p:sp>
        <p:nvSpPr>
          <p:cNvPr id="32" name="Shape 29"/>
          <p:cNvSpPr/>
          <p:nvPr/>
        </p:nvSpPr>
        <p:spPr>
          <a:xfrm>
            <a:off x="7589520" y="4251960"/>
            <a:ext cx="96012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635240" y="4325112"/>
            <a:ext cx="868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>
                <a:solidFill>
                  <a:srgbClr val="111111"/>
                </a:solidFill>
              </a:rPr>
              <a:t>Avatar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111111"/>
                </a:solidFill>
              </a:rPr>
              <a:t>Command</a:t>
            </a:r>
            <a:endParaRPr lang="en-US" sz="1000"/>
          </a:p>
        </p:txBody>
      </p:sp>
      <p:sp>
        <p:nvSpPr>
          <p:cNvPr id="34" name="Shape 31"/>
          <p:cNvSpPr/>
          <p:nvPr/>
        </p:nvSpPr>
        <p:spPr>
          <a:xfrm>
            <a:off x="9418320" y="4069080"/>
            <a:ext cx="960120" cy="10515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464040" y="4142232"/>
            <a:ext cx="868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111111"/>
                </a:solidFill>
              </a:rPr>
              <a:t>Personalized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111111"/>
                </a:solidFill>
              </a:rPr>
              <a:t>text, voice,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111111"/>
                </a:solidFill>
              </a:rPr>
              <a:t>expression,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111111"/>
                </a:solidFill>
              </a:rPr>
              <a:t>gesture</a:t>
            </a:r>
            <a:endParaRPr lang="en-US" sz="800"/>
          </a:p>
        </p:txBody>
      </p:sp>
      <p:sp>
        <p:nvSpPr>
          <p:cNvPr id="36" name="Shape 33"/>
          <p:cNvSpPr/>
          <p:nvPr/>
        </p:nvSpPr>
        <p:spPr>
          <a:xfrm>
            <a:off x="11109960" y="4251960"/>
            <a:ext cx="82296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155680" y="4325112"/>
            <a:ext cx="731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>
                <a:solidFill>
                  <a:srgbClr val="111111"/>
                </a:solidFill>
              </a:rPr>
              <a:t>Avatar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111111"/>
                </a:solidFill>
              </a:rPr>
              <a:t>Output</a:t>
            </a:r>
            <a:endParaRPr lang="en-US" sz="900"/>
          </a:p>
        </p:txBody>
      </p:sp>
      <p:sp>
        <p:nvSpPr>
          <p:cNvPr id="38" name="Text 35"/>
          <p:cNvSpPr/>
          <p:nvPr/>
        </p:nvSpPr>
        <p:spPr>
          <a:xfrm>
            <a:off x="1280160" y="20574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A00000"/>
                </a:solidFill>
              </a:rPr>
              <a:t>Pre-generation personalization</a:t>
            </a:r>
            <a:endParaRPr lang="en-US" sz="1000"/>
          </a:p>
        </p:txBody>
      </p:sp>
      <p:sp>
        <p:nvSpPr>
          <p:cNvPr id="39" name="Text 36"/>
          <p:cNvSpPr/>
          <p:nvPr/>
        </p:nvSpPr>
        <p:spPr>
          <a:xfrm>
            <a:off x="128016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</a:rPr>
              <a:t>Guides reply style, emotion, and gesture selection</a:t>
            </a:r>
            <a:endParaRPr lang="en-US" sz="900"/>
          </a:p>
        </p:txBody>
      </p:sp>
      <p:sp>
        <p:nvSpPr>
          <p:cNvPr id="40" name="Text 37"/>
          <p:cNvSpPr/>
          <p:nvPr/>
        </p:nvSpPr>
        <p:spPr>
          <a:xfrm>
            <a:off x="8229600" y="20574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A00000"/>
                </a:solidFill>
              </a:rPr>
              <a:t>Post-generation personalization</a:t>
            </a:r>
            <a:endParaRPr lang="en-US" sz="1000"/>
          </a:p>
        </p:txBody>
      </p:sp>
      <p:sp>
        <p:nvSpPr>
          <p:cNvPr id="41" name="Text 38"/>
          <p:cNvSpPr/>
          <p:nvPr/>
        </p:nvSpPr>
        <p:spPr>
          <a:xfrm>
            <a:off x="822960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</a:rPr>
              <a:t>Adjusts gesture intensity, speaking rate, and gesture count</a:t>
            </a:r>
            <a:endParaRPr lang="en-US" sz="900"/>
          </a:p>
        </p:txBody>
      </p:sp>
      <p:sp>
        <p:nvSpPr>
          <p:cNvPr id="42" name="Text 39"/>
          <p:cNvSpPr/>
          <p:nvPr/>
        </p:nvSpPr>
        <p:spPr>
          <a:xfrm>
            <a:off x="4343400" y="57150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A00000"/>
                </a:solidFill>
              </a:rPr>
              <a:t>[Personalization layer schematic]</a:t>
            </a:r>
            <a:endParaRPr lang="en-US" sz="90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6BE172FA-2C0A-9031-683C-129AD0BA8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76202"/>
            <a:ext cx="12192000" cy="5224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534924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11111"/>
                </a:solidFill>
              </a:rPr>
              <a:t>Goal:</a:t>
            </a:r>
          </a:p>
          <a:p>
            <a:pPr marL="0" indent="0">
              <a:buNone/>
            </a:pPr>
            <a:r>
              <a:rPr lang="en-US" b="1">
                <a:solidFill>
                  <a:srgbClr val="111111"/>
                </a:solidFill>
              </a:rPr>
              <a:t>Make the avatar adapt not only what it says, but also how it speaks, feels, and moves.</a:t>
            </a:r>
            <a:endParaRPr 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0C506C5-60D2-0DAB-3503-D2184367AC9A}"/>
              </a:ext>
            </a:extLst>
          </p:cNvPr>
          <p:cNvSpPr txBox="1"/>
          <p:nvPr/>
        </p:nvSpPr>
        <p:spPr>
          <a:xfrm>
            <a:off x="502920" y="6168629"/>
            <a:ext cx="11689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b="1"/>
              <a:t>Personalization is applied across text, emotion, voice, and avatar behavior, rather than only changing the prompt</a:t>
            </a:r>
            <a:r>
              <a:rPr lang="zh-CN" altLang="zh-CN" b="1"/>
              <a:t>.</a:t>
            </a:r>
            <a:endParaRPr lang="zh-CN" altLang="en-US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2221" y="139939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User Profile to Avatar Behavior</a:t>
            </a:r>
            <a:endParaRPr lang="en-US" sz="24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11/22</a:t>
            </a:r>
            <a:endParaRPr lang="en-US" sz="800"/>
          </a:p>
        </p:txBody>
      </p:sp>
      <p:sp>
        <p:nvSpPr>
          <p:cNvPr id="8" name="Shape 5"/>
          <p:cNvSpPr/>
          <p:nvPr/>
        </p:nvSpPr>
        <p:spPr>
          <a:xfrm>
            <a:off x="777240" y="1417320"/>
            <a:ext cx="2743200" cy="2240280"/>
          </a:xfrm>
          <a:prstGeom prst="rect">
            <a:avLst/>
          </a:prstGeom>
          <a:solidFill>
            <a:srgbClr val="FBFBFB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11111"/>
                </a:solidFill>
              </a:rPr>
              <a:t>Supportive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1856232" y="2103120"/>
            <a:ext cx="594360" cy="594360"/>
          </a:xfrm>
          <a:prstGeom prst="ellipse">
            <a:avLst/>
          </a:prstGeom>
          <a:solidFill>
            <a:srgbClr val="FFD8B8"/>
          </a:solidFill>
          <a:ln w="8890">
            <a:solidFill>
              <a:srgbClr val="DFA27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02536" y="2468880"/>
            <a:ext cx="274320" cy="182880"/>
          </a:xfrm>
          <a:prstGeom prst="arc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01952" y="2743200"/>
            <a:ext cx="50292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56232" y="2990088"/>
            <a:ext cx="0" cy="411480"/>
          </a:xfrm>
          <a:prstGeom prst="line">
            <a:avLst/>
          </a:prstGeom>
          <a:noFill/>
          <a:ln w="38100">
            <a:solidFill>
              <a:srgbClr val="FFD8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04872" y="2990088"/>
            <a:ext cx="502920" cy="411480"/>
          </a:xfrm>
          <a:prstGeom prst="line">
            <a:avLst/>
          </a:prstGeom>
          <a:noFill/>
          <a:ln w="38100">
            <a:solidFill>
              <a:srgbClr val="FFD8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97764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2E7D32"/>
                </a:solidFill>
              </a:rPr>
              <a:t>soft wording</a:t>
            </a:r>
            <a:endParaRPr lang="en-US" sz="900"/>
          </a:p>
        </p:txBody>
      </p:sp>
      <p:sp>
        <p:nvSpPr>
          <p:cNvPr id="16" name="Text 13"/>
          <p:cNvSpPr/>
          <p:nvPr/>
        </p:nvSpPr>
        <p:spPr>
          <a:xfrm>
            <a:off x="2194560" y="397764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2E7D32"/>
                </a:solidFill>
              </a:rPr>
              <a:t>gentle voice</a:t>
            </a:r>
            <a:endParaRPr lang="en-US" sz="900"/>
          </a:p>
        </p:txBody>
      </p:sp>
      <p:sp>
        <p:nvSpPr>
          <p:cNvPr id="17" name="Text 14"/>
          <p:cNvSpPr/>
          <p:nvPr/>
        </p:nvSpPr>
        <p:spPr>
          <a:xfrm>
            <a:off x="777240" y="4315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2E7D32"/>
                </a:solidFill>
              </a:rPr>
              <a:t>nod</a:t>
            </a:r>
            <a:endParaRPr lang="en-US" sz="900"/>
          </a:p>
        </p:txBody>
      </p:sp>
      <p:sp>
        <p:nvSpPr>
          <p:cNvPr id="18" name="Text 15"/>
          <p:cNvSpPr/>
          <p:nvPr/>
        </p:nvSpPr>
        <p:spPr>
          <a:xfrm>
            <a:off x="2194560" y="4315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E7D32"/>
                </a:solidFill>
              </a:rPr>
              <a:t>low intensity</a:t>
            </a:r>
            <a:endParaRPr lang="en-US" sz="900"/>
          </a:p>
        </p:txBody>
      </p:sp>
      <p:sp>
        <p:nvSpPr>
          <p:cNvPr id="19" name="Shape 16"/>
          <p:cNvSpPr/>
          <p:nvPr/>
        </p:nvSpPr>
        <p:spPr>
          <a:xfrm>
            <a:off x="4251960" y="1417320"/>
            <a:ext cx="2743200" cy="2240280"/>
          </a:xfrm>
          <a:prstGeom prst="rect">
            <a:avLst/>
          </a:prstGeom>
          <a:solidFill>
            <a:srgbClr val="FBFBFB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4340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11111"/>
                </a:solidFill>
              </a:rPr>
              <a:t>Playful</a:t>
            </a:r>
            <a:endParaRPr lang="en-US" sz="1400"/>
          </a:p>
        </p:txBody>
      </p:sp>
      <p:sp>
        <p:nvSpPr>
          <p:cNvPr id="21" name="Shape 18"/>
          <p:cNvSpPr/>
          <p:nvPr/>
        </p:nvSpPr>
        <p:spPr>
          <a:xfrm>
            <a:off x="5330952" y="2103120"/>
            <a:ext cx="594360" cy="594360"/>
          </a:xfrm>
          <a:prstGeom prst="ellipse">
            <a:avLst/>
          </a:prstGeom>
          <a:solidFill>
            <a:srgbClr val="FFD8B8"/>
          </a:solidFill>
          <a:ln w="8890">
            <a:solidFill>
              <a:srgbClr val="DFA27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77256" y="2468880"/>
            <a:ext cx="274320" cy="182880"/>
          </a:xfrm>
          <a:prstGeom prst="arc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76672" y="2743200"/>
            <a:ext cx="502920" cy="640080"/>
          </a:xfrm>
          <a:prstGeom prst="rect">
            <a:avLst/>
          </a:prstGeom>
          <a:solidFill>
            <a:srgbClr val="E68600"/>
          </a:solidFill>
          <a:ln w="12700">
            <a:solidFill>
              <a:srgbClr val="E686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30952" y="2990088"/>
            <a:ext cx="0" cy="411480"/>
          </a:xfrm>
          <a:prstGeom prst="line">
            <a:avLst/>
          </a:prstGeom>
          <a:noFill/>
          <a:ln w="38100">
            <a:solidFill>
              <a:srgbClr val="FFD8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879592" y="2990088"/>
            <a:ext cx="502920" cy="411480"/>
          </a:xfrm>
          <a:prstGeom prst="line">
            <a:avLst/>
          </a:prstGeom>
          <a:noFill/>
          <a:ln w="38100">
            <a:solidFill>
              <a:srgbClr val="FFD8B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51960" y="397764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E68600"/>
                </a:solidFill>
              </a:rPr>
              <a:t>lighter wording</a:t>
            </a:r>
            <a:endParaRPr lang="en-US" sz="900"/>
          </a:p>
        </p:txBody>
      </p:sp>
      <p:sp>
        <p:nvSpPr>
          <p:cNvPr id="27" name="Text 24"/>
          <p:cNvSpPr/>
          <p:nvPr/>
        </p:nvSpPr>
        <p:spPr>
          <a:xfrm>
            <a:off x="5669280" y="397764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E68600"/>
                </a:solidFill>
              </a:rPr>
              <a:t>cheerful voice</a:t>
            </a:r>
            <a:endParaRPr lang="en-US" sz="900"/>
          </a:p>
        </p:txBody>
      </p:sp>
      <p:sp>
        <p:nvSpPr>
          <p:cNvPr id="28" name="Text 25"/>
          <p:cNvSpPr/>
          <p:nvPr/>
        </p:nvSpPr>
        <p:spPr>
          <a:xfrm>
            <a:off x="4251960" y="4315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E68600"/>
                </a:solidFill>
              </a:rPr>
              <a:t>wave</a:t>
            </a:r>
            <a:endParaRPr lang="en-US" sz="900"/>
          </a:p>
        </p:txBody>
      </p:sp>
      <p:sp>
        <p:nvSpPr>
          <p:cNvPr id="29" name="Text 26"/>
          <p:cNvSpPr/>
          <p:nvPr/>
        </p:nvSpPr>
        <p:spPr>
          <a:xfrm>
            <a:off x="5669280" y="4315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E68600"/>
                </a:solidFill>
              </a:rPr>
              <a:t>high expressiveness</a:t>
            </a:r>
            <a:endParaRPr lang="en-US" sz="900"/>
          </a:p>
        </p:txBody>
      </p:sp>
      <p:sp>
        <p:nvSpPr>
          <p:cNvPr id="30" name="Shape 27"/>
          <p:cNvSpPr/>
          <p:nvPr/>
        </p:nvSpPr>
        <p:spPr>
          <a:xfrm>
            <a:off x="7726680" y="1417320"/>
            <a:ext cx="2743200" cy="2240280"/>
          </a:xfrm>
          <a:prstGeom prst="rect">
            <a:avLst/>
          </a:prstGeom>
          <a:solidFill>
            <a:srgbClr val="FBFBFB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1812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11111"/>
                </a:solidFill>
              </a:rPr>
              <a:t>Professional</a:t>
            </a:r>
            <a:endParaRPr lang="en-US" sz="1400"/>
          </a:p>
        </p:txBody>
      </p:sp>
      <p:sp>
        <p:nvSpPr>
          <p:cNvPr id="32" name="Shape 29"/>
          <p:cNvSpPr/>
          <p:nvPr/>
        </p:nvSpPr>
        <p:spPr>
          <a:xfrm>
            <a:off x="8805672" y="2103120"/>
            <a:ext cx="594360" cy="594360"/>
          </a:xfrm>
          <a:prstGeom prst="ellipse">
            <a:avLst/>
          </a:prstGeom>
          <a:solidFill>
            <a:srgbClr val="FFD8B8"/>
          </a:solidFill>
          <a:ln w="8890">
            <a:solidFill>
              <a:srgbClr val="DFA27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951976" y="2468880"/>
            <a:ext cx="274320" cy="182880"/>
          </a:xfrm>
          <a:prstGeom prst="arc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851392" y="2743200"/>
            <a:ext cx="502920" cy="640080"/>
          </a:xfrm>
          <a:prstGeom prst="rect">
            <a:avLst/>
          </a:prstGeom>
          <a:solidFill>
            <a:srgbClr val="004B8D"/>
          </a:solidFill>
          <a:ln w="12700">
            <a:solidFill>
              <a:srgbClr val="004B8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805672" y="2990088"/>
            <a:ext cx="0" cy="411480"/>
          </a:xfrm>
          <a:prstGeom prst="line">
            <a:avLst/>
          </a:prstGeom>
          <a:noFill/>
          <a:ln w="38100">
            <a:solidFill>
              <a:srgbClr val="FFD8B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354312" y="2990088"/>
            <a:ext cx="502920" cy="411480"/>
          </a:xfrm>
          <a:prstGeom prst="line">
            <a:avLst/>
          </a:prstGeom>
          <a:noFill/>
          <a:ln w="38100">
            <a:solidFill>
              <a:srgbClr val="FFD8B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726680" y="397764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4B8D"/>
                </a:solidFill>
              </a:rPr>
              <a:t>concise advice</a:t>
            </a:r>
            <a:endParaRPr lang="en-US" sz="900"/>
          </a:p>
        </p:txBody>
      </p:sp>
      <p:sp>
        <p:nvSpPr>
          <p:cNvPr id="38" name="Text 35"/>
          <p:cNvSpPr/>
          <p:nvPr/>
        </p:nvSpPr>
        <p:spPr>
          <a:xfrm>
            <a:off x="9144000" y="397764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4B8D"/>
                </a:solidFill>
              </a:rPr>
              <a:t>serious voice</a:t>
            </a:r>
            <a:endParaRPr lang="en-US" sz="900"/>
          </a:p>
        </p:txBody>
      </p:sp>
      <p:sp>
        <p:nvSpPr>
          <p:cNvPr id="39" name="Text 36"/>
          <p:cNvSpPr/>
          <p:nvPr/>
        </p:nvSpPr>
        <p:spPr>
          <a:xfrm>
            <a:off x="7726680" y="4315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4B8D"/>
                </a:solidFill>
              </a:rPr>
              <a:t>explain</a:t>
            </a:r>
            <a:endParaRPr lang="en-US" sz="900"/>
          </a:p>
        </p:txBody>
      </p:sp>
      <p:sp>
        <p:nvSpPr>
          <p:cNvPr id="40" name="Text 37"/>
          <p:cNvSpPr/>
          <p:nvPr/>
        </p:nvSpPr>
        <p:spPr>
          <a:xfrm>
            <a:off x="9144000" y="4315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004B8D"/>
                </a:solidFill>
              </a:rPr>
              <a:t>controlled motion</a:t>
            </a:r>
            <a:endParaRPr lang="en-US" sz="900"/>
          </a:p>
        </p:txBody>
      </p:sp>
      <p:sp>
        <p:nvSpPr>
          <p:cNvPr id="41" name="Text 38"/>
          <p:cNvSpPr/>
          <p:nvPr/>
        </p:nvSpPr>
        <p:spPr>
          <a:xfrm>
            <a:off x="1136904" y="617743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zh-CN" b="1"/>
              <a:t>The same semantic reply can be embodied differently according to the active user profile.</a:t>
            </a:r>
            <a:endParaRPr lang="en-US" b="1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3D4664F6-F062-FBFA-8998-54FBC83E8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99766"/>
            <a:ext cx="12192000" cy="5188895"/>
          </a:xfrm>
          <a:prstGeom prst="rect">
            <a:avLst/>
          </a:prstGeom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3DB35385-5B54-08C2-5B3F-0F71EC9809B5}"/>
              </a:ext>
            </a:extLst>
          </p:cNvPr>
          <p:cNvSpPr/>
          <p:nvPr/>
        </p:nvSpPr>
        <p:spPr>
          <a:xfrm>
            <a:off x="539808" y="1874520"/>
            <a:ext cx="3221020" cy="2441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8CF08A8F-0F57-4E02-3473-88CC40F350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904" y="2105787"/>
            <a:ext cx="1828800" cy="1990725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0CFB152D-4D81-9662-6CF1-56F1B1ED52DC}"/>
              </a:ext>
            </a:extLst>
          </p:cNvPr>
          <p:cNvSpPr/>
          <p:nvPr/>
        </p:nvSpPr>
        <p:spPr>
          <a:xfrm>
            <a:off x="4502254" y="1874520"/>
            <a:ext cx="3221020" cy="2441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7E4ED51-B9F6-6173-D331-7C6DD09ED998}"/>
              </a:ext>
            </a:extLst>
          </p:cNvPr>
          <p:cNvSpPr/>
          <p:nvPr/>
        </p:nvSpPr>
        <p:spPr>
          <a:xfrm>
            <a:off x="8431172" y="1883664"/>
            <a:ext cx="3221020" cy="2441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8FD33668-74A2-5514-1165-182B1BABB2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1534" y="2036966"/>
            <a:ext cx="1828800" cy="1981200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F02A7C6F-AD98-73EB-B430-D7CC1AFF34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0" y="1999488"/>
            <a:ext cx="1828800" cy="1981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" y="6477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11111"/>
                </a:solidFill>
              </a:rPr>
              <a:t>Input: </a:t>
            </a:r>
            <a:r>
              <a:rPr lang="en-US" b="1">
                <a:solidFill>
                  <a:srgbClr val="111111"/>
                </a:solidFill>
              </a:rPr>
              <a:t>“I feel a little stressed about my project deadline.”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Ablation: Personalization Matters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12/22</a:t>
            </a:r>
            <a:endParaRPr lang="en-US" sz="80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915892530"/>
              </p:ext>
            </p:extLst>
          </p:nvPr>
        </p:nvGraphicFramePr>
        <p:xfrm>
          <a:off x="228600" y="1050664"/>
          <a:ext cx="7443216" cy="4888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7999691" y="1522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11111"/>
                </a:solidFill>
              </a:rPr>
              <a:t>Result</a:t>
            </a:r>
            <a:endParaRPr lang="en-US" sz="2800"/>
          </a:p>
        </p:txBody>
      </p:sp>
      <p:sp>
        <p:nvSpPr>
          <p:cNvPr id="9" name="Text 5"/>
          <p:cNvSpPr/>
          <p:nvPr/>
        </p:nvSpPr>
        <p:spPr>
          <a:xfrm>
            <a:off x="7999691" y="229559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0" name="Text 6"/>
          <p:cNvSpPr/>
          <p:nvPr/>
        </p:nvSpPr>
        <p:spPr>
          <a:xfrm>
            <a:off x="8397957" y="220370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persona: 1.4961</a:t>
            </a:r>
            <a:endParaRPr lang="en-US" sz="2000"/>
          </a:p>
        </p:txBody>
      </p:sp>
      <p:sp>
        <p:nvSpPr>
          <p:cNvPr id="11" name="Text 7"/>
          <p:cNvSpPr/>
          <p:nvPr/>
        </p:nvSpPr>
        <p:spPr>
          <a:xfrm>
            <a:off x="7999691" y="275279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2" name="Text 8"/>
          <p:cNvSpPr/>
          <p:nvPr/>
        </p:nvSpPr>
        <p:spPr>
          <a:xfrm>
            <a:off x="8397957" y="266090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Supportive_only</a:t>
            </a:r>
            <a:r>
              <a:rPr lang="en-US" sz="20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0.5094</a:t>
            </a:r>
            <a:endParaRPr lang="en-US" sz="2000"/>
          </a:p>
        </p:txBody>
      </p:sp>
      <p:sp>
        <p:nvSpPr>
          <p:cNvPr id="13" name="Text 9"/>
          <p:cNvSpPr/>
          <p:nvPr/>
        </p:nvSpPr>
        <p:spPr>
          <a:xfrm>
            <a:off x="7999691" y="320999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4" name="Text 10"/>
          <p:cNvSpPr/>
          <p:nvPr/>
        </p:nvSpPr>
        <p:spPr>
          <a:xfrm>
            <a:off x="8397957" y="311810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Multi-persona: 0.5053</a:t>
            </a:r>
            <a:endParaRPr lang="en-US" sz="2000"/>
          </a:p>
        </p:txBody>
      </p:sp>
      <p:sp>
        <p:nvSpPr>
          <p:cNvPr id="15" name="Text 11"/>
          <p:cNvSpPr/>
          <p:nvPr/>
        </p:nvSpPr>
        <p:spPr>
          <a:xfrm>
            <a:off x="7999691" y="39410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11111"/>
                </a:solidFill>
              </a:rPr>
              <a:t>Takeaway</a:t>
            </a:r>
            <a:endParaRPr lang="en-US" sz="2400"/>
          </a:p>
        </p:txBody>
      </p:sp>
      <p:sp>
        <p:nvSpPr>
          <p:cNvPr id="16" name="Text 12"/>
          <p:cNvSpPr/>
          <p:nvPr/>
        </p:nvSpPr>
        <p:spPr>
          <a:xfrm>
            <a:off x="8031480" y="448970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b="1">
                <a:solidFill>
                  <a:srgbClr val="A00000"/>
                </a:solidFill>
              </a:rPr>
              <a:t>Persona conditioning reduces personality-target error by about 66%.</a:t>
            </a:r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755648" y="60626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A00000"/>
                </a:solidFill>
              </a:rPr>
              <a:t>[Ablation on adapted InCharacter evaluation]</a:t>
            </a:r>
            <a:endParaRPr lang="en-US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13/22</a:t>
            </a:r>
            <a:endParaRPr lang="en-US" sz="800"/>
          </a:p>
        </p:txBody>
      </p:sp>
      <p:sp>
        <p:nvSpPr>
          <p:cNvPr id="7" name="Shape 4"/>
          <p:cNvSpPr/>
          <p:nvPr/>
        </p:nvSpPr>
        <p:spPr>
          <a:xfrm>
            <a:off x="502920" y="149047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54076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1</a:t>
            </a:r>
            <a:endParaRPr lang="en-US" sz="800"/>
          </a:p>
        </p:txBody>
      </p:sp>
      <p:sp>
        <p:nvSpPr>
          <p:cNvPr id="9" name="Text 6"/>
          <p:cNvSpPr/>
          <p:nvPr/>
        </p:nvSpPr>
        <p:spPr>
          <a:xfrm>
            <a:off x="978408" y="14904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1. Base Layer: End-to-End Pipeline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02920" y="249631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54660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2</a:t>
            </a:r>
            <a:endParaRPr lang="en-US" sz="800"/>
          </a:p>
        </p:txBody>
      </p:sp>
      <p:sp>
        <p:nvSpPr>
          <p:cNvPr id="12" name="Text 9"/>
          <p:cNvSpPr/>
          <p:nvPr/>
        </p:nvSpPr>
        <p:spPr>
          <a:xfrm>
            <a:off x="978408" y="24963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2. Personalization Layer</a:t>
            </a:r>
            <a:endParaRPr lang="en-US" sz="1400"/>
          </a:p>
        </p:txBody>
      </p:sp>
      <p:sp>
        <p:nvSpPr>
          <p:cNvPr id="13" name="Shape 10"/>
          <p:cNvSpPr/>
          <p:nvPr/>
        </p:nvSpPr>
        <p:spPr>
          <a:xfrm>
            <a:off x="502920" y="3502152"/>
            <a:ext cx="256032" cy="25603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55244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3</a:t>
            </a:r>
            <a:endParaRPr lang="en-US" sz="800"/>
          </a:p>
        </p:txBody>
      </p:sp>
      <p:sp>
        <p:nvSpPr>
          <p:cNvPr id="15" name="Text 12"/>
          <p:cNvSpPr/>
          <p:nvPr/>
        </p:nvSpPr>
        <p:spPr>
          <a:xfrm>
            <a:off x="978408" y="35021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Part 3. Innovation Layer: Action Planner and Embodied Response</a:t>
            </a:r>
            <a:endParaRPr lang="en-US" sz="1400"/>
          </a:p>
        </p:txBody>
      </p:sp>
      <p:sp>
        <p:nvSpPr>
          <p:cNvPr id="16" name="Shape 13"/>
          <p:cNvSpPr/>
          <p:nvPr/>
        </p:nvSpPr>
        <p:spPr>
          <a:xfrm>
            <a:off x="502920" y="450799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5582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4</a:t>
            </a:r>
            <a:endParaRPr lang="en-US" sz="800"/>
          </a:p>
        </p:txBody>
      </p:sp>
      <p:sp>
        <p:nvSpPr>
          <p:cNvPr id="18" name="Text 15"/>
          <p:cNvSpPr/>
          <p:nvPr/>
        </p:nvSpPr>
        <p:spPr>
          <a:xfrm>
            <a:off x="978408" y="45079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4. Interface, Evaluation, and Storytelling</a:t>
            </a:r>
            <a:endParaRPr 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Layer: Action Planner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14/22</a:t>
            </a:r>
            <a:endParaRPr lang="en-US" sz="800"/>
          </a:p>
        </p:txBody>
      </p:sp>
      <p:sp>
        <p:nvSpPr>
          <p:cNvPr id="7" name="Text 4"/>
          <p:cNvSpPr/>
          <p:nvPr/>
        </p:nvSpPr>
        <p:spPr>
          <a:xfrm>
            <a:off x="59436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11111"/>
                </a:solidFill>
              </a:rPr>
              <a:t>Core Innovation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</a:rPr>
              <a:t>The system does not only generate text. It generates an embodied response that can be performed by a virtual avatar.</a:t>
            </a:r>
            <a:endParaRPr lang="en-US" sz="1400"/>
          </a:p>
        </p:txBody>
      </p:sp>
      <p:sp>
        <p:nvSpPr>
          <p:cNvPr id="9" name="Shape 6"/>
          <p:cNvSpPr/>
          <p:nvPr/>
        </p:nvSpPr>
        <p:spPr>
          <a:xfrm>
            <a:off x="2926080" y="3154680"/>
            <a:ext cx="1325880" cy="0"/>
          </a:xfrm>
          <a:prstGeom prst="line">
            <a:avLst/>
          </a:prstGeom>
          <a:noFill/>
          <a:ln w="1524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440680" y="3154680"/>
            <a:ext cx="1325880" cy="0"/>
          </a:xfrm>
          <a:prstGeom prst="line">
            <a:avLst/>
          </a:prstGeom>
          <a:noFill/>
          <a:ln w="1524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955280" y="3154680"/>
            <a:ext cx="1188720" cy="0"/>
          </a:xfrm>
          <a:prstGeom prst="line">
            <a:avLst/>
          </a:prstGeom>
          <a:noFill/>
          <a:ln w="15240">
            <a:solidFill>
              <a:srgbClr val="A00000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645920" y="2788920"/>
            <a:ext cx="12801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91640" y="286207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Semantic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Reply</a:t>
            </a:r>
            <a:endParaRPr lang="en-US" sz="1100"/>
          </a:p>
        </p:txBody>
      </p:sp>
      <p:sp>
        <p:nvSpPr>
          <p:cNvPr id="14" name="Shape 11"/>
          <p:cNvSpPr/>
          <p:nvPr/>
        </p:nvSpPr>
        <p:spPr>
          <a:xfrm>
            <a:off x="4251960" y="2788920"/>
            <a:ext cx="1188720" cy="731520"/>
          </a:xfrm>
          <a:prstGeom prst="roundRect">
            <a:avLst>
              <a:gd name="adj" fmla="val 5000"/>
            </a:avLst>
          </a:prstGeom>
          <a:solidFill>
            <a:srgbClr val="F5FFF5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286207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Action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Planner</a:t>
            </a:r>
            <a:endParaRPr lang="en-US" sz="1100"/>
          </a:p>
        </p:txBody>
      </p:sp>
      <p:sp>
        <p:nvSpPr>
          <p:cNvPr id="16" name="Shape 13"/>
          <p:cNvSpPr/>
          <p:nvPr/>
        </p:nvSpPr>
        <p:spPr>
          <a:xfrm>
            <a:off x="6766560" y="2788920"/>
            <a:ext cx="11887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12280" y="286207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Avatar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Command</a:t>
            </a:r>
            <a:endParaRPr lang="en-US" sz="1100"/>
          </a:p>
        </p:txBody>
      </p:sp>
      <p:sp>
        <p:nvSpPr>
          <p:cNvPr id="18" name="Shape 15"/>
          <p:cNvSpPr/>
          <p:nvPr/>
        </p:nvSpPr>
        <p:spPr>
          <a:xfrm>
            <a:off x="9144000" y="2788920"/>
            <a:ext cx="11887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89720" y="286207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Live2D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11111"/>
                </a:solidFill>
              </a:rPr>
              <a:t>Motion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1828800" y="42519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A00000"/>
                </a:solidFill>
              </a:rPr>
              <a:t>Normalization + consistency rules + cooldown + executable command schema</a:t>
            </a:r>
            <a:endParaRPr lang="en-US" sz="1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Planner Demo Cases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15/22</a:t>
            </a:r>
            <a:endParaRPr lang="en-US" sz="800"/>
          </a:p>
        </p:txBody>
      </p:sp>
      <p:sp>
        <p:nvSpPr>
          <p:cNvPr id="7" name="Text 4"/>
          <p:cNvSpPr/>
          <p:nvPr/>
        </p:nvSpPr>
        <p:spPr>
          <a:xfrm>
            <a:off x="59436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11111"/>
                </a:solidFill>
              </a:rPr>
              <a:t>Suggested Demo Cases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731520" y="14813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1042416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Joy: wave + smile + cheerful voice.</a:t>
            </a:r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731520" y="198424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1042416" y="19659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support: concerned expression + nod + gentle voice.</a:t>
            </a:r>
            <a:endParaRPr lang="en-US" sz="1400"/>
          </a:p>
        </p:txBody>
      </p:sp>
      <p:sp>
        <p:nvSpPr>
          <p:cNvPr id="12" name="Text 9"/>
          <p:cNvSpPr/>
          <p:nvPr/>
        </p:nvSpPr>
        <p:spPr>
          <a:xfrm>
            <a:off x="731520" y="26243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1042416" y="26060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Explanation: thinking expression + explain gesture + calm voice.</a:t>
            </a:r>
            <a:endParaRPr lang="en-US" sz="1400"/>
          </a:p>
        </p:txBody>
      </p:sp>
      <p:sp>
        <p:nvSpPr>
          <p:cNvPr id="14" name="Text 11"/>
          <p:cNvSpPr/>
          <p:nvPr/>
        </p:nvSpPr>
        <p:spPr>
          <a:xfrm>
            <a:off x="667512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11111"/>
                </a:solidFill>
              </a:rPr>
              <a:t>Media to Add</a:t>
            </a:r>
            <a:endParaRPr lang="en-US" sz="1600"/>
          </a:p>
        </p:txBody>
      </p:sp>
      <p:sp>
        <p:nvSpPr>
          <p:cNvPr id="15" name="Text 12"/>
          <p:cNvSpPr/>
          <p:nvPr/>
        </p:nvSpPr>
        <p:spPr>
          <a:xfrm>
            <a:off x="6812280" y="14813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7123176" y="1463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Live2D/Prometheus browser screenshot.</a:t>
            </a:r>
            <a:endParaRPr lang="en-US" sz="1400"/>
          </a:p>
        </p:txBody>
      </p:sp>
      <p:sp>
        <p:nvSpPr>
          <p:cNvPr id="17" name="Text 14"/>
          <p:cNvSpPr/>
          <p:nvPr/>
        </p:nvSpPr>
        <p:spPr>
          <a:xfrm>
            <a:off x="6812280" y="198424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18" name="Text 15"/>
          <p:cNvSpPr/>
          <p:nvPr/>
        </p:nvSpPr>
        <p:spPr>
          <a:xfrm>
            <a:off x="7123176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key frames from the demo video.</a:t>
            </a:r>
            <a:endParaRPr lang="en-US" sz="1400"/>
          </a:p>
        </p:txBody>
      </p:sp>
      <p:sp>
        <p:nvSpPr>
          <p:cNvPr id="19" name="Text 16"/>
          <p:cNvSpPr/>
          <p:nvPr/>
        </p:nvSpPr>
        <p:spPr>
          <a:xfrm>
            <a:off x="6812280" y="24871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20" name="Text 17"/>
          <p:cNvSpPr/>
          <p:nvPr/>
        </p:nvSpPr>
        <p:spPr>
          <a:xfrm>
            <a:off x="7123176" y="2468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Synchronized text, audio, expression, and gesture states.</a:t>
            </a:r>
            <a:endParaRPr lang="en-US" sz="1400"/>
          </a:p>
        </p:txBody>
      </p:sp>
      <p:sp>
        <p:nvSpPr>
          <p:cNvPr id="21" name="Text 18"/>
          <p:cNvSpPr/>
          <p:nvPr/>
        </p:nvSpPr>
        <p:spPr>
          <a:xfrm>
            <a:off x="6949440" y="52578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A00000"/>
                </a:solidFill>
              </a:rPr>
              <a:t>[Demo placeholders kept for real screenshots]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16/22</a:t>
            </a:r>
            <a:endParaRPr lang="en-US" sz="800"/>
          </a:p>
        </p:txBody>
      </p:sp>
      <p:sp>
        <p:nvSpPr>
          <p:cNvPr id="7" name="Shape 4"/>
          <p:cNvSpPr/>
          <p:nvPr/>
        </p:nvSpPr>
        <p:spPr>
          <a:xfrm>
            <a:off x="502920" y="149047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54076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1</a:t>
            </a:r>
            <a:endParaRPr lang="en-US" sz="800"/>
          </a:p>
        </p:txBody>
      </p:sp>
      <p:sp>
        <p:nvSpPr>
          <p:cNvPr id="9" name="Text 6"/>
          <p:cNvSpPr/>
          <p:nvPr/>
        </p:nvSpPr>
        <p:spPr>
          <a:xfrm>
            <a:off x="978408" y="14904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1. Base Layer: End-to-End Pipeline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02920" y="249631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54660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2</a:t>
            </a:r>
            <a:endParaRPr lang="en-US" sz="800"/>
          </a:p>
        </p:txBody>
      </p:sp>
      <p:sp>
        <p:nvSpPr>
          <p:cNvPr id="12" name="Text 9"/>
          <p:cNvSpPr/>
          <p:nvPr/>
        </p:nvSpPr>
        <p:spPr>
          <a:xfrm>
            <a:off x="978408" y="24963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2. Personalization Layer</a:t>
            </a:r>
            <a:endParaRPr lang="en-US" sz="1400"/>
          </a:p>
        </p:txBody>
      </p:sp>
      <p:sp>
        <p:nvSpPr>
          <p:cNvPr id="13" name="Shape 10"/>
          <p:cNvSpPr/>
          <p:nvPr/>
        </p:nvSpPr>
        <p:spPr>
          <a:xfrm>
            <a:off x="502920" y="3502152"/>
            <a:ext cx="256032" cy="256032"/>
          </a:xfrm>
          <a:prstGeom prst="ellipse">
            <a:avLst/>
          </a:prstGeom>
          <a:solidFill>
            <a:srgbClr val="F2DDDD"/>
          </a:solidFill>
          <a:ln w="12700">
            <a:solidFill>
              <a:srgbClr val="F2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55244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3</a:t>
            </a:r>
            <a:endParaRPr lang="en-US" sz="800"/>
          </a:p>
        </p:txBody>
      </p:sp>
      <p:sp>
        <p:nvSpPr>
          <p:cNvPr id="15" name="Text 12"/>
          <p:cNvSpPr/>
          <p:nvPr/>
        </p:nvSpPr>
        <p:spPr>
          <a:xfrm>
            <a:off x="978408" y="35021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FCFCF"/>
                </a:solidFill>
              </a:rPr>
              <a:t>Part 3. Innovation Layer: Action Planner and Embodied Response</a:t>
            </a:r>
            <a:endParaRPr lang="en-US" sz="1400"/>
          </a:p>
        </p:txBody>
      </p:sp>
      <p:sp>
        <p:nvSpPr>
          <p:cNvPr id="16" name="Shape 13"/>
          <p:cNvSpPr/>
          <p:nvPr/>
        </p:nvSpPr>
        <p:spPr>
          <a:xfrm>
            <a:off x="502920" y="4507992"/>
            <a:ext cx="256032" cy="256032"/>
          </a:xfrm>
          <a:prstGeom prst="ellipse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5582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4</a:t>
            </a:r>
            <a:endParaRPr lang="en-US" sz="800"/>
          </a:p>
        </p:txBody>
      </p:sp>
      <p:sp>
        <p:nvSpPr>
          <p:cNvPr id="18" name="Text 15"/>
          <p:cNvSpPr/>
          <p:nvPr/>
        </p:nvSpPr>
        <p:spPr>
          <a:xfrm>
            <a:off x="978408" y="45079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Part 4. Interface, Evaluation, and Storytelling</a:t>
            </a:r>
            <a:endParaRPr lang="en-US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Interface: Gradio + Prometheus Bridge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17/22</a:t>
            </a:r>
            <a:endParaRPr lang="en-US" sz="800"/>
          </a:p>
        </p:txBody>
      </p:sp>
      <p:sp>
        <p:nvSpPr>
          <p:cNvPr id="7" name="Text 4"/>
          <p:cNvSpPr/>
          <p:nvPr/>
        </p:nvSpPr>
        <p:spPr>
          <a:xfrm>
            <a:off x="594360" y="9601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</a:rPr>
              <a:t>What to Show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640080" y="14813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950976" y="1463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Gradio chat UI.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640080" y="1901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950976" y="18836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Live2D browser bridge.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640080" y="232257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950976" y="23042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Synchronized text response, audio, and avatar motion state.</a:t>
            </a:r>
            <a:endParaRPr lang="en-US" sz="1300"/>
          </a:p>
        </p:txBody>
      </p:sp>
      <p:sp>
        <p:nvSpPr>
          <p:cNvPr id="14" name="Shape 11"/>
          <p:cNvSpPr/>
          <p:nvPr/>
        </p:nvSpPr>
        <p:spPr>
          <a:xfrm>
            <a:off x="5669280" y="960120"/>
            <a:ext cx="53949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0" y="960120"/>
            <a:ext cx="5394960" cy="41148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10698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</a:rPr>
              <a:t>HAI Avatar Demo UI</a:t>
            </a:r>
            <a:endParaRPr lang="en-US" sz="1000"/>
          </a:p>
        </p:txBody>
      </p:sp>
      <p:sp>
        <p:nvSpPr>
          <p:cNvPr id="17" name="Shape 14"/>
          <p:cNvSpPr/>
          <p:nvPr/>
        </p:nvSpPr>
        <p:spPr>
          <a:xfrm>
            <a:off x="5989320" y="1645920"/>
            <a:ext cx="29260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1810512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11111"/>
                </a:solidFill>
              </a:rPr>
              <a:t>User: I feel stressed about my project.</a:t>
            </a:r>
            <a:endParaRPr lang="en-US" sz="900"/>
          </a:p>
        </p:txBody>
      </p:sp>
      <p:sp>
        <p:nvSpPr>
          <p:cNvPr id="19" name="Shape 16"/>
          <p:cNvSpPr/>
          <p:nvPr/>
        </p:nvSpPr>
        <p:spPr>
          <a:xfrm>
            <a:off x="5989320" y="2377440"/>
            <a:ext cx="2926080" cy="685800"/>
          </a:xfrm>
          <a:prstGeom prst="rect">
            <a:avLst/>
          </a:prstGeom>
          <a:solidFill>
            <a:srgbClr val="FFF7F7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26480" y="258775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11111"/>
                </a:solidFill>
              </a:rPr>
              <a:t>Avatar: Let’s break it into smaller steps...</a:t>
            </a:r>
            <a:endParaRPr lang="en-US" sz="900"/>
          </a:p>
        </p:txBody>
      </p:sp>
      <p:sp>
        <p:nvSpPr>
          <p:cNvPr id="21" name="Shape 18"/>
          <p:cNvSpPr/>
          <p:nvPr/>
        </p:nvSpPr>
        <p:spPr>
          <a:xfrm>
            <a:off x="9464040" y="1965960"/>
            <a:ext cx="731520" cy="731520"/>
          </a:xfrm>
          <a:prstGeom prst="ellipse">
            <a:avLst/>
          </a:prstGeom>
          <a:solidFill>
            <a:srgbClr val="FFD8B8"/>
          </a:solidFill>
          <a:ln w="8890">
            <a:solidFill>
              <a:srgbClr val="DFA27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555480" y="2788920"/>
            <a:ext cx="548640" cy="82296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37490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11111"/>
                </a:solidFill>
              </a:rPr>
              <a:t>emotion: supportive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111111"/>
                </a:solidFill>
              </a:rPr>
              <a:t>expression: soft_smile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111111"/>
                </a:solidFill>
              </a:rPr>
              <a:t>gesture: nod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111111"/>
                </a:solidFill>
              </a:rPr>
              <a:t>voice: gentle</a:t>
            </a:r>
            <a:endParaRPr lang="en-US" sz="900"/>
          </a:p>
        </p:txBody>
      </p:sp>
      <p:sp>
        <p:nvSpPr>
          <p:cNvPr id="24" name="Text 21"/>
          <p:cNvSpPr/>
          <p:nvPr/>
        </p:nvSpPr>
        <p:spPr>
          <a:xfrm>
            <a:off x="6126480" y="544068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A00000"/>
                </a:solidFill>
              </a:rPr>
              <a:t>[Schematic reconstruction of UI behavior]</a:t>
            </a:r>
            <a:endParaRPr lang="en-US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CharacterEval Result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18/22</a:t>
            </a:r>
            <a:endParaRPr lang="en-US" sz="80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005840"/>
          <a:ext cx="60350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7315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11111"/>
                </a:solidFill>
              </a:rPr>
              <a:t>Key Numbers</a:t>
            </a:r>
            <a:endParaRPr lang="en-US" sz="1600"/>
          </a:p>
        </p:txBody>
      </p:sp>
      <p:sp>
        <p:nvSpPr>
          <p:cNvPr id="9" name="Text 5"/>
          <p:cNvSpPr/>
          <p:nvPr/>
        </p:nvSpPr>
        <p:spPr>
          <a:xfrm>
            <a:off x="7360920" y="15727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0" name="Text 6"/>
          <p:cNvSpPr/>
          <p:nvPr/>
        </p:nvSpPr>
        <p:spPr>
          <a:xfrm>
            <a:off x="7671816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adapted subset: 60 samples.</a:t>
            </a:r>
            <a:endParaRPr lang="en-US" sz="1300"/>
          </a:p>
        </p:txBody>
      </p:sp>
      <p:sp>
        <p:nvSpPr>
          <p:cNvPr id="11" name="Text 7"/>
          <p:cNvSpPr/>
          <p:nvPr/>
        </p:nvSpPr>
        <p:spPr>
          <a:xfrm>
            <a:off x="7360920" y="20756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2" name="Text 8"/>
          <p:cNvSpPr/>
          <p:nvPr/>
        </p:nvSpPr>
        <p:spPr>
          <a:xfrm>
            <a:off x="7671816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Sampled CharacterRM: 36 scored records.</a:t>
            </a:r>
            <a:endParaRPr lang="en-US" sz="1300"/>
          </a:p>
        </p:txBody>
      </p:sp>
      <p:sp>
        <p:nvSpPr>
          <p:cNvPr id="13" name="Text 9"/>
          <p:cNvSpPr/>
          <p:nvPr/>
        </p:nvSpPr>
        <p:spPr>
          <a:xfrm>
            <a:off x="7360920" y="257860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4" name="Text 10"/>
          <p:cNvSpPr/>
          <p:nvPr/>
        </p:nvSpPr>
        <p:spPr>
          <a:xfrm>
            <a:off x="7671816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CharacterRM score: about 4.38 / 5.</a:t>
            </a:r>
            <a:endParaRPr lang="en-US" sz="1300"/>
          </a:p>
        </p:txBody>
      </p:sp>
      <p:sp>
        <p:nvSpPr>
          <p:cNvPr id="15" name="Text 11"/>
          <p:cNvSpPr/>
          <p:nvPr/>
        </p:nvSpPr>
        <p:spPr>
          <a:xfrm>
            <a:off x="7360920" y="3081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6" name="Text 12"/>
          <p:cNvSpPr/>
          <p:nvPr/>
        </p:nvSpPr>
        <p:spPr>
          <a:xfrm>
            <a:off x="7671816" y="3063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dimensions: Hallucination, Behavior, and Communication Skills.</a:t>
            </a:r>
            <a:endParaRPr lang="en-US" sz="1300"/>
          </a:p>
        </p:txBody>
      </p:sp>
      <p:sp>
        <p:nvSpPr>
          <p:cNvPr id="17" name="Text 13"/>
          <p:cNvSpPr/>
          <p:nvPr/>
        </p:nvSpPr>
        <p:spPr>
          <a:xfrm>
            <a:off x="1371600" y="530352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A00000"/>
                </a:solidFill>
              </a:rPr>
              <a:t>[Adapted local evaluation, not official leaderboard]</a:t>
            </a:r>
            <a:endParaRPr lang="en-US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InCharacter Multi-Persona Result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19/22</a:t>
            </a:r>
            <a:endParaRPr lang="en-US" sz="80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005840"/>
          <a:ext cx="62179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7315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11111"/>
                </a:solidFill>
              </a:rPr>
              <a:t>Key Numbers</a:t>
            </a:r>
            <a:endParaRPr lang="en-US" sz="1600"/>
          </a:p>
        </p:txBody>
      </p:sp>
      <p:sp>
        <p:nvSpPr>
          <p:cNvPr id="9" name="Text 5"/>
          <p:cNvSpPr/>
          <p:nvPr/>
        </p:nvSpPr>
        <p:spPr>
          <a:xfrm>
            <a:off x="7360920" y="15727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0" name="Text 6"/>
          <p:cNvSpPr/>
          <p:nvPr/>
        </p:nvSpPr>
        <p:spPr>
          <a:xfrm>
            <a:off x="7671816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BFI: 3 personas × 44 items = 132 records.</a:t>
            </a:r>
            <a:endParaRPr lang="en-US" sz="1300"/>
          </a:p>
        </p:txBody>
      </p:sp>
      <p:sp>
        <p:nvSpPr>
          <p:cNvPr id="11" name="Text 7"/>
          <p:cNvSpPr/>
          <p:nvPr/>
        </p:nvSpPr>
        <p:spPr>
          <a:xfrm>
            <a:off x="7360920" y="21671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2" name="Text 8"/>
          <p:cNvSpPr/>
          <p:nvPr/>
        </p:nvSpPr>
        <p:spPr>
          <a:xfrm>
            <a:off x="7671816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MAE: 0.5053.</a:t>
            </a:r>
            <a:endParaRPr lang="en-US" sz="1300"/>
          </a:p>
        </p:txBody>
      </p:sp>
      <p:sp>
        <p:nvSpPr>
          <p:cNvPr id="13" name="Text 9"/>
          <p:cNvSpPr/>
          <p:nvPr/>
        </p:nvSpPr>
        <p:spPr>
          <a:xfrm>
            <a:off x="7360920" y="267004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4" name="Text 10"/>
          <p:cNvSpPr/>
          <p:nvPr/>
        </p:nvSpPr>
        <p:spPr>
          <a:xfrm>
            <a:off x="7671816" y="2651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accuracy: 1.0 in the main run.</a:t>
            </a:r>
            <a:endParaRPr lang="en-US" sz="1300"/>
          </a:p>
        </p:txBody>
      </p:sp>
      <p:sp>
        <p:nvSpPr>
          <p:cNvPr id="15" name="Text 11"/>
          <p:cNvSpPr/>
          <p:nvPr/>
        </p:nvSpPr>
        <p:spPr>
          <a:xfrm>
            <a:off x="7360920" y="31729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100"/>
          </a:p>
        </p:txBody>
      </p:sp>
      <p:sp>
        <p:nvSpPr>
          <p:cNvPr id="16" name="Text 12"/>
          <p:cNvSpPr/>
          <p:nvPr/>
        </p:nvSpPr>
        <p:spPr>
          <a:xfrm>
            <a:off x="7671816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conditioning is controllable and stable.</a:t>
            </a:r>
            <a:endParaRPr lang="en-US" sz="1300"/>
          </a:p>
        </p:txBody>
      </p:sp>
      <p:sp>
        <p:nvSpPr>
          <p:cNvPr id="17" name="Text 13"/>
          <p:cNvSpPr/>
          <p:nvPr/>
        </p:nvSpPr>
        <p:spPr>
          <a:xfrm>
            <a:off x="1463040" y="53035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A00000"/>
                </a:solidFill>
              </a:rPr>
              <a:t>[Adapted InCharacter BFI evaluation]</a:t>
            </a:r>
            <a:endParaRPr lang="en-US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Evaluation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20/22</a:t>
            </a:r>
            <a:endParaRPr lang="en-US" sz="800"/>
          </a:p>
        </p:txBody>
      </p:sp>
      <p:graphicFrame>
        <p:nvGraphicFramePr>
          <p:cNvPr id="7" name="Chart 0"/>
          <p:cNvGraphicFramePr/>
          <p:nvPr/>
        </p:nvGraphicFramePr>
        <p:xfrm>
          <a:off x="731520" y="1097280"/>
          <a:ext cx="49377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6400800" y="1097280"/>
          <a:ext cx="49377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4"/>
          <p:cNvSpPr/>
          <p:nvPr/>
        </p:nvSpPr>
        <p:spPr>
          <a:xfrm>
            <a:off x="731520" y="5440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111111"/>
                </a:solidFill>
              </a:rPr>
              <a:t>BFI repeat stability: aggregate macro MAE mean 0.4913, std 0.0197. Empathy questionnaire: direction accuracy 1.0, with a visible helpful-assistant empathy bias.</a:t>
            </a:r>
            <a:endParaRPr lang="en-US" sz="12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188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Story</a:t>
            </a:r>
            <a:endParaRPr lang="en-US" sz="1500"/>
          </a:p>
        </p:txBody>
      </p:sp>
      <p:pic>
        <p:nvPicPr>
          <p:cNvPr id="4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21/22</a:t>
            </a:r>
            <a:endParaRPr lang="en-US" sz="800"/>
          </a:p>
        </p:txBody>
      </p:sp>
      <p:sp>
        <p:nvSpPr>
          <p:cNvPr id="7" name="Text 4"/>
          <p:cNvSpPr/>
          <p:nvPr/>
        </p:nvSpPr>
        <p:spPr>
          <a:xfrm>
            <a:off x="594360" y="960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11111"/>
                </a:solidFill>
              </a:rPr>
              <a:t>Claim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A00000"/>
                </a:solidFill>
              </a:rPr>
              <a:t>HAI is not simply a chatbot with a face. It is a structured pipeline that turns language into stable, personalized, embodied interaction.</a:t>
            </a:r>
            <a:endParaRPr lang="en-US" sz="1500"/>
          </a:p>
        </p:txBody>
      </p:sp>
      <p:sp>
        <p:nvSpPr>
          <p:cNvPr id="9" name="Text 6"/>
          <p:cNvSpPr/>
          <p:nvPr/>
        </p:nvSpPr>
        <p:spPr>
          <a:xfrm>
            <a:off x="731520" y="23957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1042416" y="2377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layer: the system runs end to end with replaceable real API, TTS, and avatar components.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731520" y="305409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1042416" y="303580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layer: explicit persona conditioning reduces personality-target error.</a:t>
            </a:r>
            <a:endParaRPr lang="en-US" sz="1400"/>
          </a:p>
        </p:txBody>
      </p:sp>
      <p:sp>
        <p:nvSpPr>
          <p:cNvPr id="13" name="Text 10"/>
          <p:cNvSpPr/>
          <p:nvPr/>
        </p:nvSpPr>
        <p:spPr>
          <a:xfrm>
            <a:off x="731520" y="371246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14" name="Text 11"/>
          <p:cNvSpPr/>
          <p:nvPr/>
        </p:nvSpPr>
        <p:spPr>
          <a:xfrm>
            <a:off x="1042416" y="369417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layer: Action Planner turns semantic replies into executable avatar actions.</a:t>
            </a: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731520" y="437083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❒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1042416" y="435254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layer: CharacterEval and InCharacter adapted evaluations show stable system-level behavior.</a:t>
            </a:r>
            <a:endParaRPr lang="en-US"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pic>
        <p:nvPicPr>
          <p:cNvPr id="3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1440"/>
            <a:ext cx="169164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468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A00000"/>
                </a:solidFill>
              </a:rPr>
              <a:t>Thank you!</a:t>
            </a:r>
            <a:endParaRPr lang="en-US" sz="3000"/>
          </a:p>
        </p:txBody>
      </p:sp>
      <p:sp>
        <p:nvSpPr>
          <p:cNvPr id="5" name="Text 2"/>
          <p:cNvSpPr/>
          <p:nvPr/>
        </p:nvSpPr>
        <p:spPr>
          <a:xfrm>
            <a:off x="457200" y="3154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11111"/>
                </a:solidFill>
              </a:rPr>
              <a:t>Any questions?</a:t>
            </a:r>
            <a:endParaRPr lang="en-US" sz="1800"/>
          </a:p>
        </p:txBody>
      </p:sp>
      <p:sp>
        <p:nvSpPr>
          <p:cNvPr id="6" name="Shape 3"/>
          <p:cNvSpPr/>
          <p:nvPr/>
        </p:nvSpPr>
        <p:spPr>
          <a:xfrm>
            <a:off x="0" y="6711696"/>
            <a:ext cx="12191695" cy="128016"/>
          </a:xfrm>
          <a:prstGeom prst="rect">
            <a:avLst/>
          </a:prstGeom>
          <a:solidFill>
            <a:srgbClr val="E8B8B8">
              <a:alpha val="95000"/>
            </a:srgbClr>
          </a:solidFill>
          <a:ln w="12700">
            <a:solidFill>
              <a:srgbClr val="E8B8B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7572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11111"/>
                </a:solidFill>
              </a:rPr>
              <a:t>22/22</a:t>
            </a:r>
            <a:endParaRPr lang="en-US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宽屏</PresentationFormat>
  <Slides>22</Slides>
  <Notes>22</Notes>
  <HiddenSlides>0</Hidden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3" baseType="lpstr"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HKUST(GZ)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HAI Chat Avatar</dc:title>
  <dc:subject>HAI Course Project Presentation</dc:subject>
  <dc:creator>OpenAI</dc:creator>
  <cp:revision>4</cp:revision>
  <dcterms:created xsi:type="dcterms:W3CDTF">2026-07-26T04:39:17Z</dcterms:created>
  <dcterms:modified xsi:type="dcterms:W3CDTF">2026-07-26T06:53:37Z</dcterms:modified>
</cp:coreProperties>
</file>