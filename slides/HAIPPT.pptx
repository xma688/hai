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BBCA36-8C76-43DD-8278-7BB1735A28C5}" v="163" dt="2026-07-26T05:10:07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11_0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12_0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13_0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13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MAE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000">
                        <a:solidFill>
                          <a:srgbClr val="111111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1.4961</a:t>
                    </a:r>
                    <a:endParaRPr lang="en-US" altLang="zh-C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5B7-4ED3-B9BC-B9AFD11996A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000">
                        <a:solidFill>
                          <a:srgbClr val="111111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0.5094</a:t>
                    </a:r>
                    <a:endParaRPr lang="en-US" altLang="zh-C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5B7-4ED3-B9BC-B9AFD11996A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000">
                        <a:solidFill>
                          <a:srgbClr val="111111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0.5053</a:t>
                    </a:r>
                    <a:endParaRPr lang="en-US" altLang="zh-C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5B7-4ED3-B9BC-B9AFD11996A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Persona</c:v>
                </c:pt>
                <c:pt idx="1">
                  <c:v>Supportive</c:v>
                </c:pt>
                <c:pt idx="2">
                  <c:v>Multi-Persona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1.4961</c:v>
                </c:pt>
                <c:pt idx="1">
                  <c:v>0.50939999999999996</c:v>
                </c:pt>
                <c:pt idx="2">
                  <c:v>0.50529999999999997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B7-4ED3-B9BC-B9AFD11996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Acc.</c:v>
                </c:pt>
                <c:pt idx="1">
                  <c:v>Behavior</c:v>
                </c:pt>
                <c:pt idx="2">
                  <c:v>Coher.</c:v>
                </c:pt>
                <c:pt idx="3">
                  <c:v>Comm.</c:v>
                </c:pt>
                <c:pt idx="4">
                  <c:v>Consist.</c:v>
                </c:pt>
                <c:pt idx="5">
                  <c:v>Diversity</c:v>
                </c:pt>
                <c:pt idx="6">
                  <c:v>Empathy</c:v>
                </c:pt>
                <c:pt idx="7">
                  <c:v>Exposure</c:v>
                </c:pt>
                <c:pt idx="8">
                  <c:v>Fluency</c:v>
                </c:pt>
                <c:pt idx="9">
                  <c:v>Halluc.</c:v>
                </c:pt>
                <c:pt idx="10">
                  <c:v>Knowl.</c:v>
                </c:pt>
                <c:pt idx="11">
                  <c:v>Balance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4.0199999999999996</c:v>
                </c:pt>
                <c:pt idx="1">
                  <c:v>4.76</c:v>
                </c:pt>
                <c:pt idx="2">
                  <c:v>4.67</c:v>
                </c:pt>
                <c:pt idx="3">
                  <c:v>4.67</c:v>
                </c:pt>
                <c:pt idx="4">
                  <c:v>4.0999999999999996</c:v>
                </c:pt>
                <c:pt idx="5">
                  <c:v>4.3600000000000003</c:v>
                </c:pt>
                <c:pt idx="6">
                  <c:v>4.05</c:v>
                </c:pt>
                <c:pt idx="7">
                  <c:v>4.08</c:v>
                </c:pt>
                <c:pt idx="8">
                  <c:v>4.49</c:v>
                </c:pt>
                <c:pt idx="9">
                  <c:v>4.84</c:v>
                </c:pt>
                <c:pt idx="10">
                  <c:v>4.49</c:v>
                </c:pt>
                <c:pt idx="11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AB-4794-9CEE-AB1F7113B3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supportive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Extraversion</c:v>
                </c:pt>
                <c:pt idx="1">
                  <c:v>Agreeableness</c:v>
                </c:pt>
                <c:pt idx="2">
                  <c:v>Conscientiousness</c:v>
                </c:pt>
                <c:pt idx="3">
                  <c:v>Neuroticism</c:v>
                </c:pt>
                <c:pt idx="4">
                  <c:v>Openness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</c:v>
                </c:pt>
                <c:pt idx="1">
                  <c:v>5</c:v>
                </c:pt>
                <c:pt idx="2">
                  <c:v>4.2</c:v>
                </c:pt>
                <c:pt idx="3">
                  <c:v>0.2</c:v>
                </c:pt>
                <c:pt idx="4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7C-44EE-A605-5BD2B117A7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playful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Extraversion</c:v>
                </c:pt>
                <c:pt idx="1">
                  <c:v>Agreeableness</c:v>
                </c:pt>
                <c:pt idx="2">
                  <c:v>Conscientiousness</c:v>
                </c:pt>
                <c:pt idx="3">
                  <c:v>Neuroticism</c:v>
                </c:pt>
                <c:pt idx="4">
                  <c:v>Openness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4.9000000000000004</c:v>
                </c:pt>
                <c:pt idx="1">
                  <c:v>4.3</c:v>
                </c:pt>
                <c:pt idx="2">
                  <c:v>2.2000000000000002</c:v>
                </c:pt>
                <c:pt idx="3">
                  <c:v>1.5</c:v>
                </c:pt>
                <c:pt idx="4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7C-44EE-A605-5BD2B117A7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professional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Extraversion</c:v>
                </c:pt>
                <c:pt idx="1">
                  <c:v>Agreeableness</c:v>
                </c:pt>
                <c:pt idx="2">
                  <c:v>Conscientiousness</c:v>
                </c:pt>
                <c:pt idx="3">
                  <c:v>Neuroticism</c:v>
                </c:pt>
                <c:pt idx="4">
                  <c:v>Openness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2.2000000000000002</c:v>
                </c:pt>
                <c:pt idx="1">
                  <c:v>4.2</c:v>
                </c:pt>
                <c:pt idx="2">
                  <c:v>5</c:v>
                </c:pt>
                <c:pt idx="3">
                  <c:v>1.1000000000000001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7C-44EE-A605-5BD2B117A7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BFI Repeat Stability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MAE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playful</c:v>
                </c:pt>
                <c:pt idx="1">
                  <c:v>professional</c:v>
                </c:pt>
                <c:pt idx="2">
                  <c:v>supportive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</c:v>
                </c:pt>
                <c:pt idx="1">
                  <c:v>0.36</c:v>
                </c:pt>
                <c:pt idx="2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67-4FA6-8D50-1E0BA39CC4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Empathy Questionnaire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MAE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supportive</c:v>
                </c:pt>
                <c:pt idx="1">
                  <c:v>playful</c:v>
                </c:pt>
                <c:pt idx="2">
                  <c:v>professional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0.7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DD-4025-B6D4-68434DC26B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88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gif"/><Relationship Id="rId6" Type="http://schemas.openxmlformats.org/officeDocument/2006/relationships/image" Target="../media/image5.gif"/><Relationship Id="rId7" Type="http://schemas.openxmlformats.org/officeDocument/2006/relationships/image" Target="../media/image6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612648"/>
            <a:ext cx="11475720" cy="1417320"/>
          </a:xfrm>
          <a:prstGeom prst="roundRect">
            <a:avLst>
              <a:gd name="adj" fmla="val 5161"/>
            </a:avLst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9611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HAI Course Project Presentation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HAI Chat Avatar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</a:rPr>
              <a:t>An Emotion- and Gesture-Aware Virtual Chat Companion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11111"/>
                </a:solidFill>
              </a:rPr>
              <a:t>Authors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11111"/>
                </a:solidFill>
              </a:rPr>
              <a:t>July 26, 2026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11111"/>
                </a:solidFill>
              </a:rPr>
              <a:t>AI Thrust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11111"/>
                </a:solidFill>
              </a:rPr>
              <a:t>HKUST (GZ)</a:t>
            </a:r>
            <a:endParaRPr lang="en-US" sz="1000"/>
          </a:p>
        </p:txBody>
      </p:sp>
      <p:pic>
        <p:nvPicPr>
          <p:cNvPr id="9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5440680"/>
            <a:ext cx="28346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2/22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502920" y="149047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407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978408" y="1490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1. Base Layer: End-to-End Pipeline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249631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466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978408" y="24963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2. Personalization Layer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02920" y="350215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524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15" name="Text 12"/>
          <p:cNvSpPr/>
          <p:nvPr/>
        </p:nvSpPr>
        <p:spPr>
          <a:xfrm>
            <a:off x="978408" y="3502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3. Innovation Layer: Action Planner and Embodied Response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502920" y="450799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5582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978408" y="45079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4. Interface, Evaluation, and Storytelling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3/22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502920" y="149047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407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978408" y="1490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1. Base Layer: End-to-End Pipeline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249631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466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978408" y="24963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2. Personalization Layer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02920" y="350215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524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15" name="Text 12"/>
          <p:cNvSpPr/>
          <p:nvPr/>
        </p:nvSpPr>
        <p:spPr>
          <a:xfrm>
            <a:off x="978408" y="3502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3. Innovation Layer: Action Planner and Embodied Response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502920" y="450799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5582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978408" y="45079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4. Interface, Evaluation, and Storytelling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Base Layer: What It Enables</a:t>
            </a:r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4/22</a:t>
            </a:r>
            <a:endParaRPr lang="en-US" sz="800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6492240" cy="502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l">
              <a:defRPr sz="2100" b="1">
                <a:solidFill>
                  <a:srgbClr val="111827"/>
                </a:solidFill>
              </a:defRPr>
            </a:pPr>
            <a:r>
              <a:t>A stable bridge from user language to avatar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33856"/>
            <a:ext cx="6217920" cy="566928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The base layer turns one text turn into a multimodal result: reply text, voice, expression, gesture, and executable avatar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874519" cy="1143000"/>
          </a:xfrm>
          <a:prstGeom prst="round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Input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User text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Recent history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Optional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874519"/>
            <a:ext cx="2148840" cy="1143000"/>
          </a:xfrm>
          <a:prstGeom prst="roundRect">
            <a:avLst/>
          </a:prstGeom>
          <a:solidFill>
            <a:srgbClr val="F0FDF4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Pipeline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LLM -&gt; Parser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Planner -&gt; TTS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Avatar 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874519"/>
            <a:ext cx="2011680" cy="1143000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Output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Reply text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AvatarCommand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Audio path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441448"/>
            <a:ext cx="274320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46320" y="2441448"/>
            <a:ext cx="274320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43800" y="868680"/>
            <a:ext cx="3429000" cy="3337560"/>
          </a:xfrm>
          <a:prstGeom prst="roundRect">
            <a:avLst/>
          </a:prstGeom>
          <a:solidFill>
            <a:srgbClr val="F9FAFB"/>
          </a:solidFill>
          <a:ln w="1397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111827"/>
                </a:solidFill>
              </a:defRPr>
            </a:pPr>
            <a:r>
              <a:t>Current Implementation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LLM: Mock / OpenAI-compatible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TTS: Mock / Edge TTS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Avatar: Mock / Prometheus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UI: CLI / Gradio / Browser bridge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Tests: 36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443984"/>
            <a:ext cx="288036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Base layer = runnable system boundary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End-to-End Data Flow</a:t>
            </a:r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5/22</a:t>
            </a:r>
            <a:endParaRPr lang="en-US" sz="800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9875520" cy="34747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</a:defRPr>
            </a:pPr>
            <a:r>
              <a:t>One pipeline turn is split into explicit, testable stages.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960120" cy="65836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50" b="1">
                <a:solidFill>
                  <a:srgbClr val="111827"/>
                </a:solidFill>
              </a:defRPr>
            </a:pPr>
            <a:r>
              <a:t>User 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1746504"/>
            <a:ext cx="320040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83080" y="1417320"/>
            <a:ext cx="960120" cy="658368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50" b="1">
                <a:solidFill>
                  <a:srgbClr val="111827"/>
                </a:solidFill>
              </a:defRPr>
            </a:pPr>
            <a:r>
              <a:t>History</a:t>
            </a:r>
          </a:p>
          <a:p>
            <a:pPr algn="ctr">
              <a:defRPr sz="950">
                <a:solidFill>
                  <a:srgbClr val="374151"/>
                </a:solidFill>
              </a:defRPr>
            </a:pPr>
            <a:r>
              <a:t>last 3 turns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1746504"/>
            <a:ext cx="320040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63240" y="1417320"/>
            <a:ext cx="960120" cy="658368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50" b="1">
                <a:solidFill>
                  <a:srgbClr val="111827"/>
                </a:solidFill>
              </a:defRPr>
            </a:pPr>
            <a:r>
              <a:t>Profile</a:t>
            </a:r>
          </a:p>
          <a:p>
            <a:pPr algn="ctr">
              <a:defRPr sz="950">
                <a:solidFill>
                  <a:srgbClr val="374151"/>
                </a:solidFill>
              </a:defRPr>
            </a:pPr>
            <a:r>
              <a:t>optional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1746504"/>
            <a:ext cx="320040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1417320"/>
            <a:ext cx="960120" cy="65836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50" b="1">
                <a:solidFill>
                  <a:srgbClr val="111827"/>
                </a:solidFill>
              </a:defRPr>
            </a:pPr>
            <a:r>
              <a:t>LLM</a:t>
            </a:r>
          </a:p>
          <a:p>
            <a:pPr algn="ctr">
              <a:defRPr sz="950">
                <a:solidFill>
                  <a:srgbClr val="374151"/>
                </a:solidFill>
              </a:defRPr>
            </a:pPr>
            <a:r>
              <a:t>provider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0" y="1746504"/>
            <a:ext cx="320040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23560" y="1417320"/>
            <a:ext cx="960120" cy="658368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50" b="1">
                <a:solidFill>
                  <a:srgbClr val="111827"/>
                </a:solidFill>
              </a:defRPr>
            </a:pPr>
            <a:r>
              <a:t>JSON</a:t>
            </a:r>
          </a:p>
          <a:p>
            <a:pPr algn="ctr">
              <a:defRPr sz="950">
                <a:solidFill>
                  <a:srgbClr val="374151"/>
                </a:solidFill>
              </a:defRPr>
            </a:pPr>
            <a:r>
              <a:t>parser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0" y="1746504"/>
            <a:ext cx="320040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03720" y="1417320"/>
            <a:ext cx="960120" cy="658368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50" b="1">
                <a:solidFill>
                  <a:srgbClr val="111827"/>
                </a:solidFill>
              </a:defRPr>
            </a:pPr>
            <a:r>
              <a:t>Action</a:t>
            </a:r>
          </a:p>
          <a:p>
            <a:pPr algn="ctr">
              <a:defRPr sz="950">
                <a:solidFill>
                  <a:srgbClr val="374151"/>
                </a:solidFill>
              </a:defRPr>
            </a:pPr>
            <a:r>
              <a:t>planner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1746504"/>
            <a:ext cx="320039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83879" y="1417320"/>
            <a:ext cx="960120" cy="658368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50" b="1">
                <a:solidFill>
                  <a:srgbClr val="111827"/>
                </a:solidFill>
              </a:defRPr>
            </a:pPr>
            <a:r>
              <a:t>Post</a:t>
            </a:r>
          </a:p>
          <a:p>
            <a:pPr algn="ctr">
              <a:defRPr sz="950">
                <a:solidFill>
                  <a:srgbClr val="374151"/>
                </a:solidFill>
              </a:defRPr>
            </a:pPr>
            <a:r>
              <a:t>processor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246120"/>
            <a:ext cx="1078992" cy="65836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50" b="1">
                <a:solidFill>
                  <a:srgbClr val="111827"/>
                </a:solidFill>
              </a:defRPr>
            </a:pPr>
            <a:r>
              <a:t>TTS</a:t>
            </a:r>
          </a:p>
          <a:p>
            <a:pPr algn="ctr">
              <a:defRPr sz="950">
                <a:solidFill>
                  <a:srgbClr val="374151"/>
                </a:solidFill>
              </a:defRPr>
            </a:pPr>
            <a:r>
              <a:t>audio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19472" y="3575303"/>
            <a:ext cx="429768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49240" y="3246120"/>
            <a:ext cx="1078992" cy="65836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50" b="1">
                <a:solidFill>
                  <a:srgbClr val="111827"/>
                </a:solidFill>
              </a:defRPr>
            </a:pPr>
            <a:r>
              <a:t>Avatar</a:t>
            </a:r>
          </a:p>
          <a:p>
            <a:pPr algn="ctr">
              <a:defRPr sz="950">
                <a:solidFill>
                  <a:srgbClr val="374151"/>
                </a:solidFill>
              </a:defRPr>
            </a:pPr>
            <a:r>
              <a:t>motion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28231" y="3575303"/>
            <a:ext cx="429769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0" y="3246120"/>
            <a:ext cx="1078992" cy="65836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50" b="1">
                <a:solidFill>
                  <a:srgbClr val="111827"/>
                </a:solidFill>
              </a:defRPr>
            </a:pPr>
            <a:r>
              <a:t>Result</a:t>
            </a:r>
          </a:p>
          <a:p>
            <a:pPr algn="ctr">
              <a:defRPr sz="950">
                <a:solidFill>
                  <a:srgbClr val="374151"/>
                </a:solidFill>
              </a:defRPr>
            </a:pPr>
            <a:r>
              <a:t>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2075688"/>
            <a:ext cx="0" cy="1170432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0080" y="4352544"/>
            <a:ext cx="20574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4352544"/>
            <a:ext cx="2423160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innovation hook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4352544"/>
            <a:ext cx="260604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personalization hook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983480"/>
            <a:ext cx="10058400" cy="32004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ctr">
              <a:defRPr sz="1150" b="0">
                <a:solidFill>
                  <a:srgbClr val="374151"/>
                </a:solidFill>
              </a:defRPr>
            </a:pPr>
            <a:r>
              <a:t>Main code path: src/hai_avatar/services/pipeline_service.py::PipelineService.process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Pipeline Execution: From Turn to State Update</a:t>
            </a:r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6/22</a:t>
            </a:r>
            <a:endParaRPr lang="en-US" sz="800"/>
          </a:p>
        </p:txBody>
      </p:sp>
      <p:sp>
        <p:nvSpPr>
          <p:cNvPr id="7" name="Rounded Rectangle 6"/>
          <p:cNvSpPr/>
          <p:nvPr/>
        </p:nvSpPr>
        <p:spPr>
          <a:xfrm>
            <a:off x="502920" y="1078992"/>
            <a:ext cx="1965960" cy="1874519"/>
          </a:xfrm>
          <a:prstGeom prst="round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1. Guardrails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strip input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length check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empty input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9191" y="1078992"/>
            <a:ext cx="1965960" cy="1874519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2. Context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profile load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personalized prompt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recent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55464" y="1078992"/>
            <a:ext cx="1965960" cy="1874519"/>
          </a:xfrm>
          <a:prstGeom prst="round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3. Generation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LLM call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retry policy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raw output kept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31736" y="1078992"/>
            <a:ext cx="1965960" cy="1874519"/>
          </a:xfrm>
          <a:prstGeom prst="roundRect">
            <a:avLst/>
          </a:prstGeom>
          <a:solidFill>
            <a:srgbClr val="F0FDF4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4. Validation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JSON parsing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schema repair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neutral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08008" y="1078992"/>
            <a:ext cx="1965960" cy="1874519"/>
          </a:xfrm>
          <a:prstGeom prst="round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5. Embodiment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action planning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TTS audio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avatar playback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011680"/>
            <a:ext cx="210311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45152" y="2011680"/>
            <a:ext cx="210312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21424" y="2011680"/>
            <a:ext cx="210312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97696" y="2011680"/>
            <a:ext cx="210312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3794760"/>
            <a:ext cx="4754880" cy="1097280"/>
          </a:xfrm>
          <a:prstGeom prst="roundRect">
            <a:avLst/>
          </a:prstGeom>
          <a:solidFill>
            <a:srgbClr val="F9FAFB"/>
          </a:solidFill>
          <a:ln w="1397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111827"/>
                </a:solidFill>
              </a:defRPr>
            </a:pPr>
            <a:r>
              <a:t>Why this matters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The avatar can fail softly instead of crashing a live demo.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Every turn returns both behavior and diagnostics.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3794760"/>
            <a:ext cx="4754880" cy="1097280"/>
          </a:xfrm>
          <a:prstGeom prst="roundRect">
            <a:avLst/>
          </a:prstGeom>
          <a:solidFill>
            <a:srgbClr val="F0FDF4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One-sentence summary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The base layer is a stateful, fallback-aware, multi-provider orchestration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Base Layer Demo: Input, Output, and Observable Behavior</a:t>
            </a:r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7/22</a:t>
            </a:r>
            <a:endParaRPr lang="en-US" sz="800"/>
          </a:p>
        </p:txBody>
      </p:sp>
      <p:sp>
        <p:nvSpPr>
          <p:cNvPr id="7" name="Rounded Rectangle 6"/>
          <p:cNvSpPr/>
          <p:nvPr/>
        </p:nvSpPr>
        <p:spPr>
          <a:xfrm>
            <a:off x="502920" y="868680"/>
            <a:ext cx="3154680" cy="1143000"/>
          </a:xfrm>
          <a:prstGeom prst="round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Example input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"I feel stressed about my project."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868680"/>
            <a:ext cx="3154680" cy="1143000"/>
          </a:xfrm>
          <a:prstGeom prst="roundRect">
            <a:avLst/>
          </a:prstGeom>
          <a:solidFill>
            <a:srgbClr val="F9FAFB"/>
          </a:solidFill>
          <a:ln w="1397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111827"/>
                </a:solidFill>
              </a:defRPr>
            </a:pPr>
            <a:r>
              <a:t>Natural reply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Break the problem down.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Offer supportive next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868680"/>
            <a:ext cx="3154680" cy="1143000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Embodied output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soft_smile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nod + explain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gentle voice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444752"/>
            <a:ext cx="228600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40880" y="1444752"/>
            <a:ext cx="228600" cy="0"/>
          </a:xfrm>
          <a:prstGeom prst="line">
            <a:avLst/>
          </a:prstGeom>
          <a:ln w="190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395728"/>
            <a:ext cx="4572000" cy="2743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t>Structured output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770632"/>
            <a:ext cx="132588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reply_text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2752344"/>
            <a:ext cx="3337560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t>natural-language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154679"/>
            <a:ext cx="132588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emotion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3136391"/>
            <a:ext cx="3337560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t>supportive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538727"/>
            <a:ext cx="132588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expression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3520439"/>
            <a:ext cx="3337560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t>concerned / soft_smile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922776"/>
            <a:ext cx="132588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gestures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3904488"/>
            <a:ext cx="3337560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t>nod, explain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306824"/>
            <a:ext cx="132588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voice_style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4288536"/>
            <a:ext cx="3337560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t>gentle / calm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690872"/>
            <a:ext cx="132588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audio_path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6272" y="4672584"/>
            <a:ext cx="3337560" cy="310896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t>assets/audio/*.wav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2377440"/>
            <a:ext cx="4617720" cy="2240280"/>
          </a:xfrm>
          <a:prstGeom prst="roundRect">
            <a:avLst/>
          </a:prstGeom>
          <a:solidFill>
            <a:srgbClr val="F0FDF4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What to show live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Text response appears in the UI.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Speech audio is generated.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Avatar expression switches to supportive/concerned.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Gesture trigger is visible in Prometheus/Live2D.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Reliability: Fallbacks and Test Coverage</a:t>
            </a:r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8/22</a:t>
            </a:r>
            <a:endParaRPr lang="en-US" sz="800"/>
          </a:p>
        </p:txBody>
      </p:sp>
      <p:sp>
        <p:nvSpPr>
          <p:cNvPr id="7" name="Rounded Rectangle 6"/>
          <p:cNvSpPr/>
          <p:nvPr/>
        </p:nvSpPr>
        <p:spPr>
          <a:xfrm>
            <a:off x="548640" y="960120"/>
            <a:ext cx="2240280" cy="1417320"/>
          </a:xfrm>
          <a:prstGeom prst="round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LLM error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retry -&gt; neutral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960120"/>
            <a:ext cx="2240280" cy="1417320"/>
          </a:xfrm>
          <a:prstGeom prst="roundRect">
            <a:avLst/>
          </a:prstGeom>
          <a:solidFill>
            <a:srgbClr val="F0FDF4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Invalid JSON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repair -&gt; schema-safe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960120"/>
            <a:ext cx="2240280" cy="1417320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TTS failure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mock audio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960120"/>
            <a:ext cx="2240280" cy="1417320"/>
          </a:xfrm>
          <a:prstGeom prst="roundRect">
            <a:avLst/>
          </a:prstGeom>
          <a:solidFill>
            <a:srgbClr val="F9FAFB"/>
          </a:solidFill>
          <a:ln w="1397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111827"/>
                </a:solidFill>
              </a:defRPr>
            </a:pPr>
            <a:r>
              <a:t>Avatar failure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record warning, return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71800"/>
            <a:ext cx="4709160" cy="1600200"/>
          </a:xfrm>
          <a:prstGeom prst="roundRect">
            <a:avLst/>
          </a:prstGeom>
          <a:solidFill>
            <a:srgbClr val="F9FAFB"/>
          </a:solidFill>
          <a:ln w="1397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111827"/>
                </a:solidFill>
              </a:defRPr>
            </a:pPr>
            <a:r>
              <a:t>Tested behavior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JSON parsing and fallback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Action normalization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Mock providers and full pipeline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Personalization profile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2971800"/>
            <a:ext cx="4617720" cy="1600200"/>
          </a:xfrm>
          <a:prstGeom prst="roundRect">
            <a:avLst/>
          </a:prstGeom>
          <a:solidFill>
            <a:srgbClr val="F0FDF4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73152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Demo confidence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External services are replaceable.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Failures are visible in warnings.</a:t>
            </a:r>
          </a:p>
          <a:p>
            <a:pPr>
              <a:spcBef>
                <a:spcPts val="400"/>
              </a:spcBef>
              <a:defRPr sz="1150">
                <a:solidFill>
                  <a:srgbClr val="374151"/>
                </a:solidFill>
              </a:defRPr>
            </a:pPr>
            <a:r>
              <a:t>Current verification: 36 tests passed.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5074920"/>
            <a:ext cx="420624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No single external failure should break the full turn.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9/22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502920" y="149047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407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978408" y="1490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1. Base Layer: End-to-End Pipeline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249631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466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978408" y="24963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2. Personalization Layer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02920" y="350215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524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15" name="Text 12"/>
          <p:cNvSpPr/>
          <p:nvPr/>
        </p:nvSpPr>
        <p:spPr>
          <a:xfrm>
            <a:off x="978408" y="3502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3. Innovation Layer: Action Planner and Embodied Response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502920" y="450799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5582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978408" y="45079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4. Interface, Evaluation, and Storytelling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Personalization: Core Idea</a:t>
            </a:r>
            <a:endParaRPr lang="en-US" sz="24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10/22</a:t>
            </a:r>
            <a:endParaRPr lang="en-US" sz="800"/>
          </a:p>
        </p:txBody>
      </p:sp>
      <p:sp>
        <p:nvSpPr>
          <p:cNvPr id="8" name="Shape 5"/>
          <p:cNvSpPr/>
          <p:nvPr/>
        </p:nvSpPr>
        <p:spPr>
          <a:xfrm>
            <a:off x="4800600" y="2084832"/>
            <a:ext cx="0" cy="612648"/>
          </a:xfrm>
          <a:prstGeom prst="line">
            <a:avLst/>
          </a:prstGeom>
          <a:noFill/>
          <a:ln w="1397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360920" y="2084832"/>
            <a:ext cx="868680" cy="612648"/>
          </a:xfrm>
          <a:prstGeom prst="line">
            <a:avLst/>
          </a:prstGeom>
          <a:noFill/>
          <a:ln w="1397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00400" y="3337560"/>
            <a:ext cx="0" cy="685800"/>
          </a:xfrm>
          <a:prstGeom prst="line">
            <a:avLst/>
          </a:prstGeom>
          <a:noFill/>
          <a:ln w="1397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098280" y="3337560"/>
            <a:ext cx="0" cy="685800"/>
          </a:xfrm>
          <a:prstGeom prst="line">
            <a:avLst/>
          </a:prstGeom>
          <a:noFill/>
          <a:ln w="1397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60120" y="4617720"/>
            <a:ext cx="100584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926080" y="4617720"/>
            <a:ext cx="100584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92040" y="4617720"/>
            <a:ext cx="86868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720840" y="4617720"/>
            <a:ext cx="86868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549640" y="4617720"/>
            <a:ext cx="86868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0378440" y="4617720"/>
            <a:ext cx="73152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846320" y="1417320"/>
            <a:ext cx="2468880" cy="1051560"/>
          </a:xfrm>
          <a:prstGeom prst="roundRect">
            <a:avLst>
              <a:gd name="adj" fmla="val 3478"/>
            </a:avLst>
          </a:prstGeom>
          <a:solidFill>
            <a:srgbClr val="FFF5F5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1490472"/>
            <a:ext cx="237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UserProfile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Big Five traits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Communication preferences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Gesture affinity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Interaction history</a:t>
            </a:r>
            <a:endParaRPr lang="en-US" sz="900"/>
          </a:p>
        </p:txBody>
      </p:sp>
      <p:sp>
        <p:nvSpPr>
          <p:cNvPr id="20" name="Shape 17"/>
          <p:cNvSpPr/>
          <p:nvPr/>
        </p:nvSpPr>
        <p:spPr>
          <a:xfrm>
            <a:off x="2331720" y="2697480"/>
            <a:ext cx="173736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77440" y="277063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PromptBuilder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8229600" y="2697480"/>
            <a:ext cx="18288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2770632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PostProcessor</a:t>
            </a:r>
            <a:endParaRPr lang="en-US" sz="1100"/>
          </a:p>
        </p:txBody>
      </p:sp>
      <p:sp>
        <p:nvSpPr>
          <p:cNvPr id="24" name="Shape 21"/>
          <p:cNvSpPr/>
          <p:nvPr/>
        </p:nvSpPr>
        <p:spPr>
          <a:xfrm>
            <a:off x="320040" y="4251960"/>
            <a:ext cx="8686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325112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User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Input</a:t>
            </a:r>
            <a:endParaRPr lang="en-US" sz="1000"/>
          </a:p>
        </p:txBody>
      </p:sp>
      <p:sp>
        <p:nvSpPr>
          <p:cNvPr id="26" name="Shape 23"/>
          <p:cNvSpPr/>
          <p:nvPr/>
        </p:nvSpPr>
        <p:spPr>
          <a:xfrm>
            <a:off x="1965960" y="4251960"/>
            <a:ext cx="960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11680" y="4325112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LLM</a:t>
            </a:r>
            <a:endParaRPr lang="en-US" sz="1100"/>
          </a:p>
        </p:txBody>
      </p:sp>
      <p:sp>
        <p:nvSpPr>
          <p:cNvPr id="28" name="Shape 25"/>
          <p:cNvSpPr/>
          <p:nvPr/>
        </p:nvSpPr>
        <p:spPr>
          <a:xfrm>
            <a:off x="3931920" y="4069080"/>
            <a:ext cx="960120" cy="1051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77640" y="4142232"/>
            <a:ext cx="868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Reply +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emotion +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gesture +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voice style</a:t>
            </a:r>
            <a:endParaRPr lang="en-US" sz="800"/>
          </a:p>
        </p:txBody>
      </p:sp>
      <p:sp>
        <p:nvSpPr>
          <p:cNvPr id="30" name="Shape 27"/>
          <p:cNvSpPr/>
          <p:nvPr/>
        </p:nvSpPr>
        <p:spPr>
          <a:xfrm>
            <a:off x="5760720" y="4251960"/>
            <a:ext cx="960120" cy="685800"/>
          </a:xfrm>
          <a:prstGeom prst="roundRect">
            <a:avLst>
              <a:gd name="adj" fmla="val 5333"/>
            </a:avLst>
          </a:prstGeom>
          <a:solidFill>
            <a:srgbClr val="F5FFF5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4325112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Action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Planner</a:t>
            </a:r>
            <a:endParaRPr lang="en-US" sz="1000"/>
          </a:p>
        </p:txBody>
      </p:sp>
      <p:sp>
        <p:nvSpPr>
          <p:cNvPr id="32" name="Shape 29"/>
          <p:cNvSpPr/>
          <p:nvPr/>
        </p:nvSpPr>
        <p:spPr>
          <a:xfrm>
            <a:off x="7589520" y="4251960"/>
            <a:ext cx="960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635240" y="4325112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Avatar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Command</a:t>
            </a:r>
            <a:endParaRPr lang="en-US" sz="1000"/>
          </a:p>
        </p:txBody>
      </p:sp>
      <p:sp>
        <p:nvSpPr>
          <p:cNvPr id="34" name="Shape 31"/>
          <p:cNvSpPr/>
          <p:nvPr/>
        </p:nvSpPr>
        <p:spPr>
          <a:xfrm>
            <a:off x="9418320" y="4069080"/>
            <a:ext cx="960120" cy="1051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464040" y="4142232"/>
            <a:ext cx="868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Personalized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text, voice,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expression,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gesture</a:t>
            </a:r>
            <a:endParaRPr lang="en-US" sz="800"/>
          </a:p>
        </p:txBody>
      </p:sp>
      <p:sp>
        <p:nvSpPr>
          <p:cNvPr id="36" name="Shape 33"/>
          <p:cNvSpPr/>
          <p:nvPr/>
        </p:nvSpPr>
        <p:spPr>
          <a:xfrm>
            <a:off x="11109960" y="4251960"/>
            <a:ext cx="8229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155680" y="4325112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Avatar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Output</a:t>
            </a:r>
            <a:endParaRPr lang="en-US" sz="900"/>
          </a:p>
        </p:txBody>
      </p:sp>
      <p:sp>
        <p:nvSpPr>
          <p:cNvPr id="38" name="Text 35"/>
          <p:cNvSpPr/>
          <p:nvPr/>
        </p:nvSpPr>
        <p:spPr>
          <a:xfrm>
            <a:off x="1280160" y="2057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00000"/>
                </a:solidFill>
              </a:rPr>
              <a:t>Pre-generation personalization</a:t>
            </a:r>
            <a:endParaRPr lang="en-US" sz="1000"/>
          </a:p>
        </p:txBody>
      </p:sp>
      <p:sp>
        <p:nvSpPr>
          <p:cNvPr id="39" name="Text 36"/>
          <p:cNvSpPr/>
          <p:nvPr/>
        </p:nvSpPr>
        <p:spPr>
          <a:xfrm>
            <a:off x="128016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</a:rPr>
              <a:t>Guides reply style, emotion, and gesture selection</a:t>
            </a:r>
            <a:endParaRPr lang="en-US" sz="900"/>
          </a:p>
        </p:txBody>
      </p:sp>
      <p:sp>
        <p:nvSpPr>
          <p:cNvPr id="40" name="Text 37"/>
          <p:cNvSpPr/>
          <p:nvPr/>
        </p:nvSpPr>
        <p:spPr>
          <a:xfrm>
            <a:off x="8229600" y="2057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00000"/>
                </a:solidFill>
              </a:rPr>
              <a:t>Post-generation personalization</a:t>
            </a:r>
            <a:endParaRPr lang="en-US" sz="1000"/>
          </a:p>
        </p:txBody>
      </p:sp>
      <p:sp>
        <p:nvSpPr>
          <p:cNvPr id="41" name="Text 38"/>
          <p:cNvSpPr/>
          <p:nvPr/>
        </p:nvSpPr>
        <p:spPr>
          <a:xfrm>
            <a:off x="82296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</a:rPr>
              <a:t>Adjusts gesture intensity, speaking rate, and gesture count</a:t>
            </a:r>
            <a:endParaRPr lang="en-US" sz="900"/>
          </a:p>
        </p:txBody>
      </p:sp>
      <p:sp>
        <p:nvSpPr>
          <p:cNvPr id="42" name="Text 39"/>
          <p:cNvSpPr/>
          <p:nvPr/>
        </p:nvSpPr>
        <p:spPr>
          <a:xfrm>
            <a:off x="4343400" y="5715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0000"/>
                </a:solidFill>
              </a:rPr>
              <a:t>[Personalization layer schematic]</a:t>
            </a:r>
            <a:endParaRPr lang="en-US" sz="90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6BE172FA-2C0A-9031-683C-129AD0BA8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76202"/>
            <a:ext cx="12192000" cy="5224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53492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11111"/>
                </a:solidFill>
              </a:rPr>
              <a:t>Goal:</a:t>
            </a:r>
          </a:p>
          <a:p>
            <a:pPr marL="0" indent="0">
              <a:buNone/>
            </a:pPr>
            <a:r>
              <a:rPr lang="en-US" b="1">
                <a:solidFill>
                  <a:srgbClr val="111111"/>
                </a:solidFill>
              </a:rPr>
              <a:t>Make the avatar adapt not only what it says, but also how it speaks, feels, and moves.</a:t>
            </a:r>
            <a:endParaRPr 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0C506C5-60D2-0DAB-3503-D2184367AC9A}"/>
              </a:ext>
            </a:extLst>
          </p:cNvPr>
          <p:cNvSpPr txBox="1"/>
          <p:nvPr/>
        </p:nvSpPr>
        <p:spPr>
          <a:xfrm>
            <a:off x="502920" y="6168629"/>
            <a:ext cx="11689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/>
              <a:t>Personalization is applied across text, emotion, voice, and avatar behavior, rather than only changing the prompt</a:t>
            </a:r>
            <a:r>
              <a:rPr lang="zh-CN" altLang="zh-CN" b="1"/>
              <a:t>.</a:t>
            </a:r>
            <a:endParaRPr lang="zh-CN" alt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221" y="139939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User Profile to Avatar Behavior</a:t>
            </a:r>
            <a:endParaRPr lang="en-US" sz="24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11/22</a:t>
            </a:r>
            <a:endParaRPr lang="en-US" sz="800"/>
          </a:p>
        </p:txBody>
      </p:sp>
      <p:sp>
        <p:nvSpPr>
          <p:cNvPr id="8" name="Shape 5"/>
          <p:cNvSpPr/>
          <p:nvPr/>
        </p:nvSpPr>
        <p:spPr>
          <a:xfrm>
            <a:off x="777240" y="1417320"/>
            <a:ext cx="2743200" cy="2240280"/>
          </a:xfrm>
          <a:prstGeom prst="rect">
            <a:avLst/>
          </a:prstGeom>
          <a:solidFill>
            <a:srgbClr val="FBFBFB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</a:rPr>
              <a:t>Supportive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1856232" y="2103120"/>
            <a:ext cx="594360" cy="594360"/>
          </a:xfrm>
          <a:prstGeom prst="ellipse">
            <a:avLst/>
          </a:prstGeom>
          <a:solidFill>
            <a:srgbClr val="FFD8B8"/>
          </a:solidFill>
          <a:ln w="8890">
            <a:solidFill>
              <a:srgbClr val="DFA27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02536" y="2468880"/>
            <a:ext cx="274320" cy="182880"/>
          </a:xfrm>
          <a:prstGeom prst="arc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1952" y="2743200"/>
            <a:ext cx="50292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56232" y="2990088"/>
            <a:ext cx="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04872" y="2990088"/>
            <a:ext cx="50292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E7D32"/>
                </a:solidFill>
              </a:rPr>
              <a:t>soft wording</a:t>
            </a:r>
            <a:endParaRPr lang="en-US" sz="900"/>
          </a:p>
        </p:txBody>
      </p:sp>
      <p:sp>
        <p:nvSpPr>
          <p:cNvPr id="16" name="Text 13"/>
          <p:cNvSpPr/>
          <p:nvPr/>
        </p:nvSpPr>
        <p:spPr>
          <a:xfrm>
            <a:off x="219456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E7D32"/>
                </a:solidFill>
              </a:rPr>
              <a:t>gentle voice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77724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E7D32"/>
                </a:solidFill>
              </a:rPr>
              <a:t>nod</a:t>
            </a:r>
            <a:endParaRPr lang="en-US" sz="900"/>
          </a:p>
        </p:txBody>
      </p:sp>
      <p:sp>
        <p:nvSpPr>
          <p:cNvPr id="18" name="Text 15"/>
          <p:cNvSpPr/>
          <p:nvPr/>
        </p:nvSpPr>
        <p:spPr>
          <a:xfrm>
            <a:off x="219456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E7D32"/>
                </a:solidFill>
              </a:rPr>
              <a:t>low intensity</a:t>
            </a:r>
            <a:endParaRPr lang="en-US" sz="900"/>
          </a:p>
        </p:txBody>
      </p:sp>
      <p:sp>
        <p:nvSpPr>
          <p:cNvPr id="19" name="Shape 16"/>
          <p:cNvSpPr/>
          <p:nvPr/>
        </p:nvSpPr>
        <p:spPr>
          <a:xfrm>
            <a:off x="4251960" y="1417320"/>
            <a:ext cx="2743200" cy="2240280"/>
          </a:xfrm>
          <a:prstGeom prst="rect">
            <a:avLst/>
          </a:prstGeom>
          <a:solidFill>
            <a:srgbClr val="FBFBFB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</a:rPr>
              <a:t>Playful</a:t>
            </a:r>
            <a:endParaRPr lang="en-US" sz="1400"/>
          </a:p>
        </p:txBody>
      </p:sp>
      <p:sp>
        <p:nvSpPr>
          <p:cNvPr id="21" name="Shape 18"/>
          <p:cNvSpPr/>
          <p:nvPr/>
        </p:nvSpPr>
        <p:spPr>
          <a:xfrm>
            <a:off x="5330952" y="2103120"/>
            <a:ext cx="594360" cy="594360"/>
          </a:xfrm>
          <a:prstGeom prst="ellipse">
            <a:avLst/>
          </a:prstGeom>
          <a:solidFill>
            <a:srgbClr val="FFD8B8"/>
          </a:solidFill>
          <a:ln w="8890">
            <a:solidFill>
              <a:srgbClr val="DFA27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77256" y="2468880"/>
            <a:ext cx="274320" cy="182880"/>
          </a:xfrm>
          <a:prstGeom prst="arc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76672" y="2743200"/>
            <a:ext cx="502920" cy="640080"/>
          </a:xfrm>
          <a:prstGeom prst="rect">
            <a:avLst/>
          </a:prstGeom>
          <a:solidFill>
            <a:srgbClr val="E68600"/>
          </a:solidFill>
          <a:ln w="12700">
            <a:solidFill>
              <a:srgbClr val="E686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30952" y="2990088"/>
            <a:ext cx="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79592" y="2990088"/>
            <a:ext cx="50292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5196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E68600"/>
                </a:solidFill>
              </a:rPr>
              <a:t>lighter wording</a:t>
            </a:r>
            <a:endParaRPr lang="en-US" sz="900"/>
          </a:p>
        </p:txBody>
      </p:sp>
      <p:sp>
        <p:nvSpPr>
          <p:cNvPr id="27" name="Text 24"/>
          <p:cNvSpPr/>
          <p:nvPr/>
        </p:nvSpPr>
        <p:spPr>
          <a:xfrm>
            <a:off x="566928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E68600"/>
                </a:solidFill>
              </a:rPr>
              <a:t>cheerful voice</a:t>
            </a:r>
            <a:endParaRPr lang="en-US" sz="900"/>
          </a:p>
        </p:txBody>
      </p:sp>
      <p:sp>
        <p:nvSpPr>
          <p:cNvPr id="28" name="Text 25"/>
          <p:cNvSpPr/>
          <p:nvPr/>
        </p:nvSpPr>
        <p:spPr>
          <a:xfrm>
            <a:off x="425196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E68600"/>
                </a:solidFill>
              </a:rPr>
              <a:t>wave</a:t>
            </a:r>
            <a:endParaRPr lang="en-US" sz="900"/>
          </a:p>
        </p:txBody>
      </p:sp>
      <p:sp>
        <p:nvSpPr>
          <p:cNvPr id="29" name="Text 26"/>
          <p:cNvSpPr/>
          <p:nvPr/>
        </p:nvSpPr>
        <p:spPr>
          <a:xfrm>
            <a:off x="566928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E68600"/>
                </a:solidFill>
              </a:rPr>
              <a:t>high expressiveness</a:t>
            </a:r>
            <a:endParaRPr lang="en-US" sz="900"/>
          </a:p>
        </p:txBody>
      </p:sp>
      <p:sp>
        <p:nvSpPr>
          <p:cNvPr id="30" name="Shape 27"/>
          <p:cNvSpPr/>
          <p:nvPr/>
        </p:nvSpPr>
        <p:spPr>
          <a:xfrm>
            <a:off x="7726680" y="1417320"/>
            <a:ext cx="2743200" cy="2240280"/>
          </a:xfrm>
          <a:prstGeom prst="rect">
            <a:avLst/>
          </a:prstGeom>
          <a:solidFill>
            <a:srgbClr val="FBFBFB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1812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</a:rPr>
              <a:t>Professional</a:t>
            </a:r>
            <a:endParaRPr lang="en-US" sz="1400"/>
          </a:p>
        </p:txBody>
      </p:sp>
      <p:sp>
        <p:nvSpPr>
          <p:cNvPr id="32" name="Shape 29"/>
          <p:cNvSpPr/>
          <p:nvPr/>
        </p:nvSpPr>
        <p:spPr>
          <a:xfrm>
            <a:off x="8805672" y="2103120"/>
            <a:ext cx="594360" cy="594360"/>
          </a:xfrm>
          <a:prstGeom prst="ellipse">
            <a:avLst/>
          </a:prstGeom>
          <a:solidFill>
            <a:srgbClr val="FFD8B8"/>
          </a:solidFill>
          <a:ln w="8890">
            <a:solidFill>
              <a:srgbClr val="DFA27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951976" y="2468880"/>
            <a:ext cx="274320" cy="182880"/>
          </a:xfrm>
          <a:prstGeom prst="arc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51392" y="2743200"/>
            <a:ext cx="502920" cy="640080"/>
          </a:xfrm>
          <a:prstGeom prst="rect">
            <a:avLst/>
          </a:prstGeom>
          <a:solidFill>
            <a:srgbClr val="004B8D"/>
          </a:solidFill>
          <a:ln w="12700">
            <a:solidFill>
              <a:srgbClr val="004B8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805672" y="2990088"/>
            <a:ext cx="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354312" y="2990088"/>
            <a:ext cx="50292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2668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4B8D"/>
                </a:solidFill>
              </a:rPr>
              <a:t>concise advice</a:t>
            </a:r>
            <a:endParaRPr lang="en-US" sz="900"/>
          </a:p>
        </p:txBody>
      </p:sp>
      <p:sp>
        <p:nvSpPr>
          <p:cNvPr id="38" name="Text 35"/>
          <p:cNvSpPr/>
          <p:nvPr/>
        </p:nvSpPr>
        <p:spPr>
          <a:xfrm>
            <a:off x="914400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4B8D"/>
                </a:solidFill>
              </a:rPr>
              <a:t>serious voice</a:t>
            </a:r>
            <a:endParaRPr lang="en-US" sz="900"/>
          </a:p>
        </p:txBody>
      </p:sp>
      <p:sp>
        <p:nvSpPr>
          <p:cNvPr id="39" name="Text 36"/>
          <p:cNvSpPr/>
          <p:nvPr/>
        </p:nvSpPr>
        <p:spPr>
          <a:xfrm>
            <a:off x="772668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4B8D"/>
                </a:solidFill>
              </a:rPr>
              <a:t>explain</a:t>
            </a:r>
            <a:endParaRPr lang="en-US" sz="900"/>
          </a:p>
        </p:txBody>
      </p:sp>
      <p:sp>
        <p:nvSpPr>
          <p:cNvPr id="40" name="Text 37"/>
          <p:cNvSpPr/>
          <p:nvPr/>
        </p:nvSpPr>
        <p:spPr>
          <a:xfrm>
            <a:off x="914400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004B8D"/>
                </a:solidFill>
              </a:rPr>
              <a:t>controlled motion</a:t>
            </a:r>
            <a:endParaRPr lang="en-US" sz="900"/>
          </a:p>
        </p:txBody>
      </p:sp>
      <p:sp>
        <p:nvSpPr>
          <p:cNvPr id="41" name="Text 38"/>
          <p:cNvSpPr/>
          <p:nvPr/>
        </p:nvSpPr>
        <p:spPr>
          <a:xfrm>
            <a:off x="1136904" y="617743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b="1"/>
              <a:t>The same semantic reply can be embodied differently according to the active user profile.</a:t>
            </a:r>
            <a:endParaRPr lang="en-US" b="1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3D4664F6-F062-FBFA-8998-54FBC83E8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9766"/>
            <a:ext cx="12192000" cy="5188895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3DB35385-5B54-08C2-5B3F-0F71EC9809B5}"/>
              </a:ext>
            </a:extLst>
          </p:cNvPr>
          <p:cNvSpPr/>
          <p:nvPr/>
        </p:nvSpPr>
        <p:spPr>
          <a:xfrm>
            <a:off x="539808" y="1874520"/>
            <a:ext cx="3221020" cy="2441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8CF08A8F-0F57-4E02-3473-88CC40F35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904" y="2105787"/>
            <a:ext cx="1828800" cy="1990725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0CFB152D-4D81-9662-6CF1-56F1B1ED52DC}"/>
              </a:ext>
            </a:extLst>
          </p:cNvPr>
          <p:cNvSpPr/>
          <p:nvPr/>
        </p:nvSpPr>
        <p:spPr>
          <a:xfrm>
            <a:off x="4502254" y="1874520"/>
            <a:ext cx="3221020" cy="2441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7E4ED51-B9F6-6173-D331-7C6DD09ED998}"/>
              </a:ext>
            </a:extLst>
          </p:cNvPr>
          <p:cNvSpPr/>
          <p:nvPr/>
        </p:nvSpPr>
        <p:spPr>
          <a:xfrm>
            <a:off x="8431172" y="1883664"/>
            <a:ext cx="3221020" cy="2441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8FD33668-74A2-5514-1165-182B1BABB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1534" y="2036966"/>
            <a:ext cx="1828800" cy="198120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F02A7C6F-AD98-73EB-B430-D7CC1AFF34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1999488"/>
            <a:ext cx="1828800" cy="1981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" y="6477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111"/>
                </a:solidFill>
              </a:rPr>
              <a:t>Input: </a:t>
            </a:r>
            <a:r>
              <a:rPr lang="en-US" b="1">
                <a:solidFill>
                  <a:srgbClr val="111111"/>
                </a:solidFill>
              </a:rPr>
              <a:t>“I feel a little stressed about my project deadline.”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Ablation: Personalization Matters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12/22</a:t>
            </a:r>
            <a:endParaRPr lang="en-US" sz="80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915892530"/>
              </p:ext>
            </p:extLst>
          </p:nvPr>
        </p:nvGraphicFramePr>
        <p:xfrm>
          <a:off x="228600" y="1050664"/>
          <a:ext cx="7443216" cy="4888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7999691" y="1522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</a:rPr>
              <a:t>Result</a:t>
            </a:r>
            <a:endParaRPr lang="en-US" sz="2800"/>
          </a:p>
        </p:txBody>
      </p:sp>
      <p:sp>
        <p:nvSpPr>
          <p:cNvPr id="9" name="Text 5"/>
          <p:cNvSpPr/>
          <p:nvPr/>
        </p:nvSpPr>
        <p:spPr>
          <a:xfrm>
            <a:off x="7999691" y="22955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0" name="Text 6"/>
          <p:cNvSpPr/>
          <p:nvPr/>
        </p:nvSpPr>
        <p:spPr>
          <a:xfrm>
            <a:off x="8397957" y="22037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persona: 1.4961</a:t>
            </a:r>
            <a:endParaRPr lang="en-US" sz="2000"/>
          </a:p>
        </p:txBody>
      </p:sp>
      <p:sp>
        <p:nvSpPr>
          <p:cNvPr id="11" name="Text 7"/>
          <p:cNvSpPr/>
          <p:nvPr/>
        </p:nvSpPr>
        <p:spPr>
          <a:xfrm>
            <a:off x="7999691" y="27527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8397957" y="26609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Supportive_only</a:t>
            </a:r>
            <a:r>
              <a:rPr lang="en-US" sz="20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0.5094</a:t>
            </a:r>
            <a:endParaRPr lang="en-US" sz="2000"/>
          </a:p>
        </p:txBody>
      </p:sp>
      <p:sp>
        <p:nvSpPr>
          <p:cNvPr id="13" name="Text 9"/>
          <p:cNvSpPr/>
          <p:nvPr/>
        </p:nvSpPr>
        <p:spPr>
          <a:xfrm>
            <a:off x="7999691" y="32099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4" name="Text 10"/>
          <p:cNvSpPr/>
          <p:nvPr/>
        </p:nvSpPr>
        <p:spPr>
          <a:xfrm>
            <a:off x="8397957" y="31181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Multi-persona: 0.5053</a:t>
            </a:r>
            <a:endParaRPr lang="en-US" sz="2000"/>
          </a:p>
        </p:txBody>
      </p:sp>
      <p:sp>
        <p:nvSpPr>
          <p:cNvPr id="15" name="Text 11"/>
          <p:cNvSpPr/>
          <p:nvPr/>
        </p:nvSpPr>
        <p:spPr>
          <a:xfrm>
            <a:off x="7999691" y="3941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111"/>
                </a:solidFill>
              </a:rPr>
              <a:t>Takeaway</a:t>
            </a:r>
            <a:endParaRPr lang="en-US" sz="2400"/>
          </a:p>
        </p:txBody>
      </p:sp>
      <p:sp>
        <p:nvSpPr>
          <p:cNvPr id="16" name="Text 12"/>
          <p:cNvSpPr/>
          <p:nvPr/>
        </p:nvSpPr>
        <p:spPr>
          <a:xfrm>
            <a:off x="8031480" y="448970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b="1">
                <a:solidFill>
                  <a:srgbClr val="A00000"/>
                </a:solidFill>
              </a:rPr>
              <a:t>Persona conditioning reduces personality-target error by about 66%.</a:t>
            </a:r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755648" y="60626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A00000"/>
                </a:solidFill>
              </a:rPr>
              <a:t>[Ablation on adapted InCharacter evaluation]</a:t>
            </a:r>
            <a:endParaRPr 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13/22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502920" y="149047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407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978408" y="1490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1. Base Layer: End-to-End Pipeline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249631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466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978408" y="24963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2. Personalization Layer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02920" y="350215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524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15" name="Text 12"/>
          <p:cNvSpPr/>
          <p:nvPr/>
        </p:nvSpPr>
        <p:spPr>
          <a:xfrm>
            <a:off x="978408" y="3502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3. Innovation Layer: Action Planner and Embodied Response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502920" y="450799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5582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978408" y="45079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4. Interface, Evaluation, and Storytelling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Layer: Action Planner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14/22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59436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Core Innovation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</a:rPr>
              <a:t>The system does not only generate text. It generates an embodied response that can be performed by a virtual avatar.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2926080" y="3154680"/>
            <a:ext cx="1325880" cy="0"/>
          </a:xfrm>
          <a:prstGeom prst="line">
            <a:avLst/>
          </a:prstGeom>
          <a:noFill/>
          <a:ln w="1524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40680" y="3154680"/>
            <a:ext cx="1325880" cy="0"/>
          </a:xfrm>
          <a:prstGeom prst="line">
            <a:avLst/>
          </a:prstGeom>
          <a:noFill/>
          <a:ln w="1524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955280" y="3154680"/>
            <a:ext cx="1188720" cy="0"/>
          </a:xfrm>
          <a:prstGeom prst="line">
            <a:avLst/>
          </a:prstGeom>
          <a:noFill/>
          <a:ln w="1524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645920" y="278892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91640" y="286207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Semantic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Reply</a:t>
            </a:r>
            <a:endParaRPr lang="en-US" sz="1100"/>
          </a:p>
        </p:txBody>
      </p:sp>
      <p:sp>
        <p:nvSpPr>
          <p:cNvPr id="14" name="Shape 11"/>
          <p:cNvSpPr/>
          <p:nvPr/>
        </p:nvSpPr>
        <p:spPr>
          <a:xfrm>
            <a:off x="4251960" y="2788920"/>
            <a:ext cx="1188720" cy="731520"/>
          </a:xfrm>
          <a:prstGeom prst="roundRect">
            <a:avLst>
              <a:gd name="adj" fmla="val 5000"/>
            </a:avLst>
          </a:prstGeom>
          <a:solidFill>
            <a:srgbClr val="F5FFF5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28620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Action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Planner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6766560" y="2788920"/>
            <a:ext cx="11887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28620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Avatar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Command</a:t>
            </a:r>
            <a:endParaRPr lang="en-US" sz="1100"/>
          </a:p>
        </p:txBody>
      </p:sp>
      <p:sp>
        <p:nvSpPr>
          <p:cNvPr id="18" name="Shape 15"/>
          <p:cNvSpPr/>
          <p:nvPr/>
        </p:nvSpPr>
        <p:spPr>
          <a:xfrm>
            <a:off x="9144000" y="2788920"/>
            <a:ext cx="11887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89720" y="28620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Live2D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Motion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1828800" y="4251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A00000"/>
                </a:solidFill>
              </a:rPr>
              <a:t>Normalization + consistency rules + cooldown + executable command schema</a:t>
            </a:r>
            <a:endParaRPr lang="en-US"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Planner Demo Cases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15/22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5943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Suggested Demo Cases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731520" y="14813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1042416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Joy: wave + smile + cheerful voice.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731520" y="19842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1042416" y="1965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support: concerned expression + nod + gentle voice.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731520" y="26243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1042416" y="2606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Explanation: thinking expression + explain gesture + calm voice.</a:t>
            </a:r>
            <a:endParaRPr lang="en-US" sz="1400"/>
          </a:p>
        </p:txBody>
      </p:sp>
      <p:sp>
        <p:nvSpPr>
          <p:cNvPr id="14" name="Text 11"/>
          <p:cNvSpPr/>
          <p:nvPr/>
        </p:nvSpPr>
        <p:spPr>
          <a:xfrm>
            <a:off x="667512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Media to Add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6812280" y="14813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7123176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Live2D/Prometheus browser screenshot.</a:t>
            </a: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6812280" y="19842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7123176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key frames from the demo video.</a:t>
            </a:r>
            <a:endParaRPr lang="en-US" sz="1400"/>
          </a:p>
        </p:txBody>
      </p:sp>
      <p:sp>
        <p:nvSpPr>
          <p:cNvPr id="19" name="Text 16"/>
          <p:cNvSpPr/>
          <p:nvPr/>
        </p:nvSpPr>
        <p:spPr>
          <a:xfrm>
            <a:off x="6812280" y="24871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20" name="Text 17"/>
          <p:cNvSpPr/>
          <p:nvPr/>
        </p:nvSpPr>
        <p:spPr>
          <a:xfrm>
            <a:off x="7123176" y="2468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 text, audio, expression, and gesture states.</a:t>
            </a:r>
            <a:endParaRPr lang="en-US" sz="1400"/>
          </a:p>
        </p:txBody>
      </p:sp>
      <p:sp>
        <p:nvSpPr>
          <p:cNvPr id="21" name="Text 18"/>
          <p:cNvSpPr/>
          <p:nvPr/>
        </p:nvSpPr>
        <p:spPr>
          <a:xfrm>
            <a:off x="6949440" y="52578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0000"/>
                </a:solidFill>
              </a:rPr>
              <a:t>[Demo placeholders kept for real screenshots]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16/22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502920" y="149047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407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978408" y="1490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1. Base Layer: End-to-End Pipeline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249631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466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978408" y="24963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2. Personalization Layer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02920" y="350215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524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15" name="Text 12"/>
          <p:cNvSpPr/>
          <p:nvPr/>
        </p:nvSpPr>
        <p:spPr>
          <a:xfrm>
            <a:off x="978408" y="3502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3. Innovation Layer: Action Planner and Embodied Response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502920" y="450799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5582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978408" y="45079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4. Interface, Evaluation, and Storytelling</a:t>
            </a:r>
            <a:endParaRPr 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Interface: Gradio + Prometheus Bridge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17/22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594360" y="960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What to Show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40080" y="14813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950976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chat UI.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640080" y="1901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950976" y="18836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Live2D browser bridge.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640080" y="23225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950976" y="23042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 text response, audio, and avatar motion state.</a:t>
            </a:r>
            <a:endParaRPr lang="en-US" sz="1300"/>
          </a:p>
        </p:txBody>
      </p:sp>
      <p:sp>
        <p:nvSpPr>
          <p:cNvPr id="14" name="Shape 11"/>
          <p:cNvSpPr/>
          <p:nvPr/>
        </p:nvSpPr>
        <p:spPr>
          <a:xfrm>
            <a:off x="5669280" y="960120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960120"/>
            <a:ext cx="5394960" cy="41148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10698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HAI Avatar Demo UI</a:t>
            </a:r>
            <a:endParaRPr lang="en-US" sz="1000"/>
          </a:p>
        </p:txBody>
      </p:sp>
      <p:sp>
        <p:nvSpPr>
          <p:cNvPr id="17" name="Shape 14"/>
          <p:cNvSpPr/>
          <p:nvPr/>
        </p:nvSpPr>
        <p:spPr>
          <a:xfrm>
            <a:off x="5989320" y="1645920"/>
            <a:ext cx="29260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1810512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User: I feel stressed about my project.</a:t>
            </a:r>
            <a:endParaRPr lang="en-US" sz="900"/>
          </a:p>
        </p:txBody>
      </p:sp>
      <p:sp>
        <p:nvSpPr>
          <p:cNvPr id="19" name="Shape 16"/>
          <p:cNvSpPr/>
          <p:nvPr/>
        </p:nvSpPr>
        <p:spPr>
          <a:xfrm>
            <a:off x="5989320" y="2377440"/>
            <a:ext cx="2926080" cy="685800"/>
          </a:xfrm>
          <a:prstGeom prst="rect">
            <a:avLst/>
          </a:prstGeom>
          <a:solidFill>
            <a:srgbClr val="FFF7F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258775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Avatar: Let’s break it into smaller steps...</a:t>
            </a:r>
            <a:endParaRPr lang="en-US" sz="900"/>
          </a:p>
        </p:txBody>
      </p:sp>
      <p:sp>
        <p:nvSpPr>
          <p:cNvPr id="21" name="Shape 18"/>
          <p:cNvSpPr/>
          <p:nvPr/>
        </p:nvSpPr>
        <p:spPr>
          <a:xfrm>
            <a:off x="9464040" y="1965960"/>
            <a:ext cx="731520" cy="731520"/>
          </a:xfrm>
          <a:prstGeom prst="ellipse">
            <a:avLst/>
          </a:prstGeom>
          <a:solidFill>
            <a:srgbClr val="FFD8B8"/>
          </a:solidFill>
          <a:ln w="8890">
            <a:solidFill>
              <a:srgbClr val="DFA27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55480" y="2788920"/>
            <a:ext cx="548640" cy="82296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emotion: supportive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expression: soft_smile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gesture: nod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voice: gentle</a:t>
            </a:r>
            <a:endParaRPr lang="en-US" sz="900"/>
          </a:p>
        </p:txBody>
      </p:sp>
      <p:sp>
        <p:nvSpPr>
          <p:cNvPr id="24" name="Text 21"/>
          <p:cNvSpPr/>
          <p:nvPr/>
        </p:nvSpPr>
        <p:spPr>
          <a:xfrm>
            <a:off x="6126480" y="54406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0000"/>
                </a:solidFill>
              </a:rPr>
              <a:t>[Schematic reconstruction of UI behavior]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CharacterEval Result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18/22</a:t>
            </a:r>
            <a:endParaRPr lang="en-US" sz="80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005840"/>
          <a:ext cx="60350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7315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Key Numbers</a:t>
            </a:r>
            <a:endParaRPr lang="en-US" sz="1600"/>
          </a:p>
        </p:txBody>
      </p:sp>
      <p:sp>
        <p:nvSpPr>
          <p:cNvPr id="9" name="Text 5"/>
          <p:cNvSpPr/>
          <p:nvPr/>
        </p:nvSpPr>
        <p:spPr>
          <a:xfrm>
            <a:off x="7360920" y="15727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0" name="Text 6"/>
          <p:cNvSpPr/>
          <p:nvPr/>
        </p:nvSpPr>
        <p:spPr>
          <a:xfrm>
            <a:off x="7671816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adapted subset: 60 samples.</a:t>
            </a:r>
            <a:endParaRPr lang="en-US" sz="1300"/>
          </a:p>
        </p:txBody>
      </p:sp>
      <p:sp>
        <p:nvSpPr>
          <p:cNvPr id="11" name="Text 7"/>
          <p:cNvSpPr/>
          <p:nvPr/>
        </p:nvSpPr>
        <p:spPr>
          <a:xfrm>
            <a:off x="7360920" y="20756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7671816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Sampled CharacterRM: 36 scored records.</a:t>
            </a:r>
            <a:endParaRPr lang="en-US" sz="1300"/>
          </a:p>
        </p:txBody>
      </p:sp>
      <p:sp>
        <p:nvSpPr>
          <p:cNvPr id="13" name="Text 9"/>
          <p:cNvSpPr/>
          <p:nvPr/>
        </p:nvSpPr>
        <p:spPr>
          <a:xfrm>
            <a:off x="7360920" y="25786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4" name="Text 10"/>
          <p:cNvSpPr/>
          <p:nvPr/>
        </p:nvSpPr>
        <p:spPr>
          <a:xfrm>
            <a:off x="7671816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CharacterRM score: about 4.38 / 5.</a:t>
            </a:r>
            <a:endParaRPr lang="en-US" sz="1300"/>
          </a:p>
        </p:txBody>
      </p:sp>
      <p:sp>
        <p:nvSpPr>
          <p:cNvPr id="15" name="Text 11"/>
          <p:cNvSpPr/>
          <p:nvPr/>
        </p:nvSpPr>
        <p:spPr>
          <a:xfrm>
            <a:off x="7360920" y="3081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6" name="Text 12"/>
          <p:cNvSpPr/>
          <p:nvPr/>
        </p:nvSpPr>
        <p:spPr>
          <a:xfrm>
            <a:off x="7671816" y="3063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dimensions: Hallucination, Behavior, and Communication Skills.</a:t>
            </a:r>
            <a:endParaRPr lang="en-US" sz="1300"/>
          </a:p>
        </p:txBody>
      </p:sp>
      <p:sp>
        <p:nvSpPr>
          <p:cNvPr id="17" name="Text 13"/>
          <p:cNvSpPr/>
          <p:nvPr/>
        </p:nvSpPr>
        <p:spPr>
          <a:xfrm>
            <a:off x="1371600" y="530352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0000"/>
                </a:solidFill>
              </a:rPr>
              <a:t>[Adapted local evaluation, not official leaderboard]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InCharacter Multi-Persona Result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19/22</a:t>
            </a:r>
            <a:endParaRPr lang="en-US" sz="80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005840"/>
          <a:ext cx="6217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7315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Key Numbers</a:t>
            </a:r>
            <a:endParaRPr lang="en-US" sz="1600"/>
          </a:p>
        </p:txBody>
      </p:sp>
      <p:sp>
        <p:nvSpPr>
          <p:cNvPr id="9" name="Text 5"/>
          <p:cNvSpPr/>
          <p:nvPr/>
        </p:nvSpPr>
        <p:spPr>
          <a:xfrm>
            <a:off x="7360920" y="15727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0" name="Text 6"/>
          <p:cNvSpPr/>
          <p:nvPr/>
        </p:nvSpPr>
        <p:spPr>
          <a:xfrm>
            <a:off x="7671816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BFI: 3 personas × 44 items = 132 records.</a:t>
            </a:r>
            <a:endParaRPr lang="en-US" sz="1300"/>
          </a:p>
        </p:txBody>
      </p:sp>
      <p:sp>
        <p:nvSpPr>
          <p:cNvPr id="11" name="Text 7"/>
          <p:cNvSpPr/>
          <p:nvPr/>
        </p:nvSpPr>
        <p:spPr>
          <a:xfrm>
            <a:off x="7360920" y="21671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7671816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MAE: 0.5053.</a:t>
            </a:r>
            <a:endParaRPr lang="en-US" sz="1300"/>
          </a:p>
        </p:txBody>
      </p:sp>
      <p:sp>
        <p:nvSpPr>
          <p:cNvPr id="13" name="Text 9"/>
          <p:cNvSpPr/>
          <p:nvPr/>
        </p:nvSpPr>
        <p:spPr>
          <a:xfrm>
            <a:off x="7360920" y="26700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4" name="Text 10"/>
          <p:cNvSpPr/>
          <p:nvPr/>
        </p:nvSpPr>
        <p:spPr>
          <a:xfrm>
            <a:off x="7671816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accuracy: 1.0 in the main run.</a:t>
            </a:r>
            <a:endParaRPr lang="en-US" sz="1300"/>
          </a:p>
        </p:txBody>
      </p:sp>
      <p:sp>
        <p:nvSpPr>
          <p:cNvPr id="15" name="Text 11"/>
          <p:cNvSpPr/>
          <p:nvPr/>
        </p:nvSpPr>
        <p:spPr>
          <a:xfrm>
            <a:off x="7360920" y="31729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6" name="Text 12"/>
          <p:cNvSpPr/>
          <p:nvPr/>
        </p:nvSpPr>
        <p:spPr>
          <a:xfrm>
            <a:off x="7671816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conditioning is controllable and stable.</a:t>
            </a:r>
            <a:endParaRPr lang="en-US" sz="1300"/>
          </a:p>
        </p:txBody>
      </p:sp>
      <p:sp>
        <p:nvSpPr>
          <p:cNvPr id="17" name="Text 13"/>
          <p:cNvSpPr/>
          <p:nvPr/>
        </p:nvSpPr>
        <p:spPr>
          <a:xfrm>
            <a:off x="1463040" y="5303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0000"/>
                </a:solidFill>
              </a:rPr>
              <a:t>[Adapted InCharacter BFI evaluation]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Evaluation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20/22</a:t>
            </a:r>
            <a:endParaRPr lang="en-US" sz="800"/>
          </a:p>
        </p:txBody>
      </p:sp>
      <p:graphicFrame>
        <p:nvGraphicFramePr>
          <p:cNvPr id="7" name="Chart 0"/>
          <p:cNvGraphicFramePr/>
          <p:nvPr/>
        </p:nvGraphicFramePr>
        <p:xfrm>
          <a:off x="731520" y="1097280"/>
          <a:ext cx="49377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6400800" y="1097280"/>
          <a:ext cx="49377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73152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BFI repeat stability: aggregate macro MAE mean 0.4913, std 0.0197. Empathy questionnaire: direction accuracy 1.0, with a visible helpful-assistant empathy bias.</a:t>
            </a:r>
            <a:endParaRPr lang="en-US" sz="12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Story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21/22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59436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Claim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A00000"/>
                </a:solidFill>
              </a:rPr>
              <a:t>HAI is not simply a chatbot with a face. It is a structured pipeline that turns language into stable, personalized, embodied interaction.</a:t>
            </a:r>
            <a:endParaRPr lang="en-US" sz="1500"/>
          </a:p>
        </p:txBody>
      </p:sp>
      <p:sp>
        <p:nvSpPr>
          <p:cNvPr id="9" name="Text 6"/>
          <p:cNvSpPr/>
          <p:nvPr/>
        </p:nvSpPr>
        <p:spPr>
          <a:xfrm>
            <a:off x="731520" y="23957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1042416" y="2377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layer: the system runs end to end with replaceable real API, TTS, and avatar components.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731520" y="30540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1042416" y="30358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layer: explicit persona conditioning reduces personality-target error.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731520" y="37124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1042416" y="369417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layer: Action Planner turns semantic replies into executable avatar actions.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731520" y="437083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1042416" y="435254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layer: CharacterEval and InCharacter adapted evaluations show stable system-level behavior.</a:t>
            </a:r>
            <a:endParaRPr lang="en-US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pic>
        <p:nvPicPr>
          <p:cNvPr id="3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A00000"/>
                </a:solidFill>
              </a:rPr>
              <a:t>Thank you!</a:t>
            </a:r>
            <a:endParaRPr lang="en-US" sz="3000"/>
          </a:p>
        </p:txBody>
      </p:sp>
      <p:sp>
        <p:nvSpPr>
          <p:cNvPr id="5" name="Text 2"/>
          <p:cNvSpPr/>
          <p:nvPr/>
        </p:nvSpPr>
        <p:spPr>
          <a:xfrm>
            <a:off x="457200" y="3154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11111"/>
                </a:solidFill>
              </a:rPr>
              <a:t>Any questions?</a:t>
            </a:r>
            <a:endParaRPr lang="en-US" sz="1800"/>
          </a:p>
        </p:txBody>
      </p:sp>
      <p:sp>
        <p:nvSpPr>
          <p:cNvPr id="6" name="Shape 3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22/22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宽屏</PresentationFormat>
  <Slides>22</Slides>
  <Notes>22</Notes>
  <HiddenSlides>0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HKUST(GZ)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 Chat Avatar</dc:title>
  <dc:subject>HAI Course Project Presentation</dc:subject>
  <dc:creator>OpenAI</dc:creator>
  <cp:revision>4</cp:revision>
  <dcterms:created xsi:type="dcterms:W3CDTF">2026-07-26T04:39:17Z</dcterms:created>
  <dcterms:modified xsi:type="dcterms:W3CDTF">2026-07-26T06:53:37Z</dcterms:modified>
</cp:coreProperties>
</file>